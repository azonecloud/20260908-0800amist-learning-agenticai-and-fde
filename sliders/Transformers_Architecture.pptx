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Transformer stacks N identical layers. Each layer combines multi-head self-attention with a position-wise feed-forward network, wrapped in residual connections and layer normalization. Positional encoding injects word order.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Encoder: bidirectional attention builds rich representations. Decoder: masked self-attention plus cross-attention to the encoder output, generating tokens autoregressively.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Latent = hidden. The model learns embeddings where distance reflects semantic similarity. Real spaces have hundreds to thousands of dimensions; this is a 2-D illustration.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Encoder-only for understanding, decoder-only for generation (most modern LLMs), encoder-decoder for sequence-to-sequence tasks. Transformers now extend to vision, audio and biology.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Attention is all you need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33172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9C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Introduced in 2017, the Transformer replaced recurrence with self-attention, so every token can look at every other token in parallel.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3566160"/>
            <a:ext cx="182880" cy="182880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35204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 </a:t>
            </a:r>
            <a:pPr indent="0" marL="0">
              <a:buNone/>
            </a:pPr>
            <a:r>
              <a:rPr lang="en-US" sz="1300" dirty="0">
                <a:solidFill>
                  <a:srgbClr val="C9C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Trains on whole sequences at once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4023360"/>
            <a:ext cx="182880" cy="182880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39776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 </a:t>
            </a:r>
            <a:pPr indent="0" marL="0">
              <a:buNone/>
            </a:pPr>
            <a:r>
              <a:rPr lang="en-US" sz="1300" dirty="0">
                <a:solidFill>
                  <a:srgbClr val="C9C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relevance between tokens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4480560"/>
            <a:ext cx="182880" cy="182880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4434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 </a:t>
            </a:r>
            <a:pPr indent="0" marL="0">
              <a:buNone/>
            </a:pPr>
            <a:r>
              <a:rPr lang="en-US" sz="1300" dirty="0">
                <a:solidFill>
                  <a:srgbClr val="C9C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today's large models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120640" y="411480"/>
            <a:ext cx="3566160" cy="4297680"/>
          </a:xfrm>
          <a:prstGeom prst="roundRect">
            <a:avLst>
              <a:gd name="adj" fmla="val 3846"/>
            </a:avLst>
          </a:prstGeom>
          <a:solidFill>
            <a:srgbClr val="262A5A"/>
          </a:solidFill>
          <a:ln w="12700">
            <a:solidFill>
              <a:srgbClr val="262A5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40680" y="594360"/>
            <a:ext cx="292608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40680" y="59436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/ Prediction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40680" y="1280160"/>
            <a:ext cx="2926080" cy="384048"/>
          </a:xfrm>
          <a:prstGeom prst="roundRect">
            <a:avLst>
              <a:gd name="adj" fmla="val 19048"/>
            </a:avLst>
          </a:prstGeom>
          <a:solidFill>
            <a:srgbClr val="4A4F8A"/>
          </a:solidFill>
          <a:ln w="12700">
            <a:solidFill>
              <a:srgbClr val="4A4F8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40680" y="128016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&amp; Norm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40680" y="1783080"/>
            <a:ext cx="2926080" cy="384048"/>
          </a:xfrm>
          <a:prstGeom prst="roundRect">
            <a:avLst>
              <a:gd name="adj" fmla="val 19048"/>
            </a:avLst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40680" y="178308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Feed-Forward Network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40680" y="2286000"/>
            <a:ext cx="2926080" cy="384048"/>
          </a:xfrm>
          <a:prstGeom prst="roundRect">
            <a:avLst>
              <a:gd name="adj" fmla="val 19048"/>
            </a:avLst>
          </a:prstGeom>
          <a:solidFill>
            <a:srgbClr val="4A4F8A"/>
          </a:solidFill>
          <a:ln w="12700">
            <a:solidFill>
              <a:srgbClr val="4A4F8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40680" y="228600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&amp; Norm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40680" y="2788920"/>
            <a:ext cx="2926080" cy="384048"/>
          </a:xfrm>
          <a:prstGeom prst="roundRect">
            <a:avLst>
              <a:gd name="adj" fmla="val 19048"/>
            </a:avLst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40680" y="278892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Multi-Head Self-Attention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40680" y="3566160"/>
            <a:ext cx="2926080" cy="384048"/>
          </a:xfrm>
          <a:prstGeom prst="roundRect">
            <a:avLst>
              <a:gd name="adj" fmla="val 19048"/>
            </a:avLst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440680" y="356616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+ Positional Encoding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303520" y="1188720"/>
            <a:ext cx="3200400" cy="2103120"/>
          </a:xfrm>
          <a:prstGeom prst="roundRect">
            <a:avLst>
              <a:gd name="adj" fmla="val 4348"/>
            </a:avLst>
          </a:prstGeom>
          <a:solidFill>
            <a:srgbClr val="262A5A"/>
          </a:solidFill>
          <a:ln w="15875">
            <a:solidFill>
              <a:srgbClr val="00C2A8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5440680" y="1280160"/>
            <a:ext cx="2926080" cy="384048"/>
          </a:xfrm>
          <a:prstGeom prst="roundRect">
            <a:avLst>
              <a:gd name="adj" fmla="val 19048"/>
            </a:avLst>
          </a:prstGeom>
          <a:solidFill>
            <a:srgbClr val="4A4F8A"/>
          </a:solidFill>
          <a:ln w="12700">
            <a:solidFill>
              <a:srgbClr val="4A4F8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440680" y="128016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&amp; Norm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40680" y="1783080"/>
            <a:ext cx="2926080" cy="384048"/>
          </a:xfrm>
          <a:prstGeom prst="roundRect">
            <a:avLst>
              <a:gd name="adj" fmla="val 19048"/>
            </a:avLst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440680" y="178308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Feed-Forward Network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440680" y="2286000"/>
            <a:ext cx="2926080" cy="384048"/>
          </a:xfrm>
          <a:prstGeom prst="roundRect">
            <a:avLst>
              <a:gd name="adj" fmla="val 19048"/>
            </a:avLst>
          </a:prstGeom>
          <a:solidFill>
            <a:srgbClr val="4A4F8A"/>
          </a:solidFill>
          <a:ln w="12700">
            <a:solidFill>
              <a:srgbClr val="4A4F8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440680" y="228600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&amp; Norm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440680" y="2788920"/>
            <a:ext cx="2926080" cy="384048"/>
          </a:xfrm>
          <a:prstGeom prst="roundRect">
            <a:avLst>
              <a:gd name="adj" fmla="val 19048"/>
            </a:avLst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440680" y="278892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Multi-Head Self-Attention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7223760" y="333756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N layers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5440680" y="41148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C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in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F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Encoder and Decoder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71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stacks that work together: one understands the input, the other generates the output.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657600" cy="3063240"/>
          </a:xfrm>
          <a:prstGeom prst="roundRect">
            <a:avLst>
              <a:gd name="adj" fmla="val 35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783080"/>
            <a:ext cx="457200" cy="457200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76479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Encoder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205740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1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and understands the input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560320"/>
            <a:ext cx="31546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Self-attention over the full input (bidirectional)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Feed-forward layer refines each token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contextual embeddings, one vector per token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token sees left and right context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029200" y="1554480"/>
            <a:ext cx="3657600" cy="3063240"/>
          </a:xfrm>
          <a:prstGeom prst="roundRect">
            <a:avLst>
              <a:gd name="adj" fmla="val 35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303520" y="1783080"/>
            <a:ext cx="457200" cy="45720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30352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897880" y="176479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Decoder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5897880" y="205740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1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the output, one token at a time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303520" y="2560320"/>
            <a:ext cx="31546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Masked self-attention: no peeking at future tokens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Cross-attention reads the encoder's output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Feed-forward layer, then softmax over vocabulary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the next token autoregressively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224528" y="2788920"/>
            <a:ext cx="694944" cy="457200"/>
          </a:xfrm>
          <a:prstGeom prst="rightArrow">
            <a:avLst/>
          </a:prstGeom>
          <a:solidFill>
            <a:srgbClr val="1F2340"/>
          </a:solidFill>
          <a:ln w="12700">
            <a:solidFill>
              <a:srgbClr val="1F234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114800" y="32918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1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F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Latent Space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71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compressed, learned map of meaning.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6002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A8F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is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901952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high-dimensional vector space where the model represents tokens and concepts as embeddings.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62432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A8F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works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92608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 meanings land close together; relationships become directions.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64845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A8F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it lives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950208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 outputs and every hidden layer are points in this space.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846320" y="457200"/>
            <a:ext cx="3840480" cy="4206240"/>
          </a:xfrm>
          <a:prstGeom prst="roundRect">
            <a:avLst>
              <a:gd name="adj" fmla="val 3571"/>
            </a:avLst>
          </a:prstGeom>
          <a:solidFill>
            <a:srgbClr val="14163A"/>
          </a:solidFill>
          <a:ln w="12700">
            <a:solidFill>
              <a:srgbClr val="14163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66360" y="777240"/>
            <a:ext cx="1554480" cy="1188720"/>
          </a:xfrm>
          <a:prstGeom prst="ellipse">
            <a:avLst/>
          </a:prstGeom>
          <a:solidFill>
            <a:srgbClr val="00C2A8">
              <a:alpha val="18000"/>
            </a:srgbClr>
          </a:solidFill>
          <a:ln w="12700">
            <a:solidFill>
              <a:srgbClr val="00C2A8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5879592" y="1307592"/>
            <a:ext cx="128016" cy="128016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91072" y="1536192"/>
            <a:ext cx="128016" cy="128016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559552" y="1673352"/>
            <a:ext cx="128016" cy="128016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16752" y="941832"/>
            <a:ext cx="128016" cy="128016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28232" y="1170432"/>
            <a:ext cx="128016" cy="128016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166360" y="199339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Animals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989320" y="2286000"/>
            <a:ext cx="1554480" cy="1188720"/>
          </a:xfrm>
          <a:prstGeom prst="ellipse">
            <a:avLst/>
          </a:prstGeom>
          <a:solidFill>
            <a:srgbClr val="FF6B6B">
              <a:alpha val="18000"/>
            </a:srgbClr>
          </a:solidFill>
          <a:ln w="12700">
            <a:solidFill>
              <a:srgbClr val="FF6B6B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6702552" y="2816352"/>
            <a:ext cx="128016" cy="128016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068312" y="2999232"/>
            <a:ext cx="128016" cy="128016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36792" y="2679192"/>
            <a:ext cx="128016" cy="128016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793992" y="3227832"/>
            <a:ext cx="128016" cy="128016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519672" y="3136392"/>
            <a:ext cx="128016" cy="128016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989320" y="350215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858000" y="777240"/>
            <a:ext cx="1554480" cy="1188720"/>
          </a:xfrm>
          <a:prstGeom prst="ellipse">
            <a:avLst/>
          </a:prstGeom>
          <a:solidFill>
            <a:srgbClr val="F5C542">
              <a:alpha val="18000"/>
            </a:srgbClr>
          </a:solidFill>
          <a:ln w="12700">
            <a:solidFill>
              <a:srgbClr val="F5C542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7571232" y="1307592"/>
            <a:ext cx="128016" cy="128016"/>
          </a:xfrm>
          <a:prstGeom prst="ellipse">
            <a:avLst/>
          </a:prstGeom>
          <a:solidFill>
            <a:srgbClr val="F5C542"/>
          </a:solidFill>
          <a:ln w="12700">
            <a:solidFill>
              <a:srgbClr val="F5C54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936992" y="1581912"/>
            <a:ext cx="128016" cy="128016"/>
          </a:xfrm>
          <a:prstGeom prst="ellipse">
            <a:avLst/>
          </a:prstGeom>
          <a:solidFill>
            <a:srgbClr val="F5C542"/>
          </a:solidFill>
          <a:ln w="12700">
            <a:solidFill>
              <a:srgbClr val="F5C54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296912" y="1581912"/>
            <a:ext cx="128016" cy="128016"/>
          </a:xfrm>
          <a:prstGeom prst="ellipse">
            <a:avLst/>
          </a:prstGeom>
          <a:solidFill>
            <a:srgbClr val="F5C542"/>
          </a:solidFill>
          <a:ln w="12700">
            <a:solidFill>
              <a:srgbClr val="F5C54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845552" y="987552"/>
            <a:ext cx="128016" cy="128016"/>
          </a:xfrm>
          <a:prstGeom prst="ellipse">
            <a:avLst/>
          </a:prstGeom>
          <a:solidFill>
            <a:srgbClr val="F5C542"/>
          </a:solidFill>
          <a:ln w="12700">
            <a:solidFill>
              <a:srgbClr val="F5C54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159752" y="1216152"/>
            <a:ext cx="128016" cy="128016"/>
          </a:xfrm>
          <a:prstGeom prst="ellipse">
            <a:avLst/>
          </a:prstGeom>
          <a:solidFill>
            <a:srgbClr val="F5C542"/>
          </a:solidFill>
          <a:ln w="12700">
            <a:solidFill>
              <a:srgbClr val="F5C54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858000" y="199339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Royalty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120640" y="3794760"/>
            <a:ext cx="3291840" cy="566928"/>
          </a:xfrm>
          <a:prstGeom prst="rect">
            <a:avLst/>
          </a:prstGeom>
          <a:solidFill>
            <a:srgbClr val="262A5A"/>
          </a:solidFill>
          <a:ln w="12700">
            <a:solidFill>
              <a:srgbClr val="262A5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120640" y="379476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king − man + woman ≈ queen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9C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 is arithmetic on vectors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5120640" y="440740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AA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2-D projection of a space with hundreds of dimensions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F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Transformers in the Real World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71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architecture families, each suited to a different job.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260604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783080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78308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Encoder-only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1945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 text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65176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A8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· RoBERTa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320040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1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Classification, search, entity recognition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73552" y="1554480"/>
            <a:ext cx="260604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02152" y="1783080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502152" y="178308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Decoder-only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502152" y="21945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Generate text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3502152" y="265176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9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 · Claude · LLaMA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502152" y="320040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1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Chatbots, coding, writing, agents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089904" y="1554480"/>
            <a:ext cx="260604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18504" y="1783080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7A6CF0"/>
          </a:solidFill>
          <a:ln w="12700">
            <a:solidFill>
              <a:srgbClr val="7A6C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318504" y="178308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Encoder-Decoder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318504" y="21945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Translate text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6318504" y="265176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B4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T5 · BART · Original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318504" y="320040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1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Translation, summarization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4114800"/>
            <a:ext cx="8229600" cy="548640"/>
          </a:xfrm>
          <a:prstGeom prst="roundRect">
            <a:avLst>
              <a:gd name="adj" fmla="val 16667"/>
            </a:avLst>
          </a:prstGeom>
          <a:solidFill>
            <a:srgbClr val="14163A"/>
          </a:solidFill>
          <a:ln w="12700">
            <a:solidFill>
              <a:srgbClr val="14163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31520" y="41148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text: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 (images) · Whisper (speech) · AlphaFold (proteins)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2026-09-28T18:32:30Z</dcterms:created>
  <dcterms:modified xsi:type="dcterms:W3CDTF">2026-09-28T18:32:30Z</dcterms:modified>
</cp:coreProperties>
</file>