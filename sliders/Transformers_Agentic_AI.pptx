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1. Transformers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The core architecture behind modern LLMs and many agentic AI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Input Tokens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Text → token 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1508760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468880" y="2578608"/>
            <a:ext cx="320040" cy="0"/>
          </a:xfrm>
          <a:prstGeom prst="line">
            <a:avLst/>
          </a:prstGeom>
          <a:ln w="31750">
            <a:solidFill>
              <a:srgbClr val="2A6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28800"/>
            <a:ext cx="196596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Embeddings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Token +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828800"/>
            <a:ext cx="73152" cy="1508760"/>
          </a:xfrm>
          <a:prstGeom prst="rect">
            <a:avLst/>
          </a:prstGeom>
          <a:solidFill>
            <a:srgbClr val="2F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754879" y="2578608"/>
            <a:ext cx="320041" cy="0"/>
          </a:xfrm>
          <a:prstGeom prst="line">
            <a:avLst/>
          </a:prstGeom>
          <a:ln w="31750">
            <a:solidFill>
              <a:srgbClr val="2A6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828800"/>
            <a:ext cx="196596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Self-Attention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Contextual relationships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828800"/>
            <a:ext cx="73152" cy="150876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040879" y="2578608"/>
            <a:ext cx="320041" cy="0"/>
          </a:xfrm>
          <a:prstGeom prst="line">
            <a:avLst/>
          </a:prstGeom>
          <a:ln w="31750">
            <a:solidFill>
              <a:srgbClr val="2A6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828800"/>
            <a:ext cx="196596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Feed-Forward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Non-linear transformation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828800"/>
            <a:ext cx="73152" cy="1508760"/>
          </a:xfrm>
          <a:prstGeom prst="rect">
            <a:avLst/>
          </a:prstGeom>
          <a:solidFill>
            <a:srgbClr val="3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326880" y="2578608"/>
            <a:ext cx="320040" cy="0"/>
          </a:xfrm>
          <a:prstGeom prst="line">
            <a:avLst/>
          </a:prstGeom>
          <a:ln w="31750">
            <a:solidFill>
              <a:srgbClr val="2A6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46920" y="1828800"/>
            <a:ext cx="196596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Output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Contextual representations / next 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1828800"/>
            <a:ext cx="73152" cy="1508760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What makes Transformers powerful?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Parallel processing of tokens during training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Self-attention captures long-range dependencies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Scales efficiently with data, parameters and compute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86200"/>
            <a:ext cx="73152" cy="1508760"/>
          </a:xfrm>
          <a:prstGeom prst="rect">
            <a:avLst/>
          </a:prstGeom>
          <a:solidFill>
            <a:srgbClr val="2F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Agentic AI connection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LLM = reasoning/generation engine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Agents add tools, memory, planning, retrieval and action loops around the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86200"/>
            <a:ext cx="73152" cy="150876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Agentic AI Engineering • Transformers •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2. Encoder vs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Two transformer patterns used for different language and AI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ENCODER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Purpose: understand input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Input: complete sequence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Attention: typically bidirectional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Output: contextual embeddings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Examples: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BERT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RoBERTa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Sentence Transformers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Typical uses: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Classification • Search • RAG retrieval • Embeddings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251960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DECODER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Purpose: generate output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Input: previous tokens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Attention: causal / masked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Output: next-token probabilities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Examples: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GPT-style models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Llama-style models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Many code LLMs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Typical uses: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Chat • Code • Generation • Tool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73152" cy="425196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ENCODER–DECODER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Purpose: transform one sequence into another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Encoder reads source → Decoder generates target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Examples: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T5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BART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Translation systems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Typical uses: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Translation • Summarization • Structured transformation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417320"/>
            <a:ext cx="73152" cy="4251960"/>
          </a:xfrm>
          <a:prstGeom prst="rect">
            <a:avLst/>
          </a:prstGeom>
          <a:solidFill>
            <a:srgbClr val="3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Agentic AI Engineering • Transformers •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3. Latent Space — From Tokens to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A learned representation space where related concepts can be positioned near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Text / Tokens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“invoice is overdue”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1325880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926080" y="2487168"/>
            <a:ext cx="868680" cy="0"/>
          </a:xfrm>
          <a:prstGeom prst="line">
            <a:avLst/>
          </a:prstGeom>
          <a:ln w="31750">
            <a:solidFill>
              <a:srgbClr val="2A6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0" y="18288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Embeddings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High-dimensional vectors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828800"/>
            <a:ext cx="73152" cy="1325880"/>
          </a:xfrm>
          <a:prstGeom prst="rect">
            <a:avLst/>
          </a:prstGeom>
          <a:solidFill>
            <a:srgbClr val="2F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217920" y="2487168"/>
            <a:ext cx="868680" cy="0"/>
          </a:xfrm>
          <a:prstGeom prst="line">
            <a:avLst/>
          </a:prstGeom>
          <a:ln w="31750">
            <a:solidFill>
              <a:srgbClr val="2A6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32320" y="1417320"/>
            <a:ext cx="4389120" cy="30175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57276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1F35"/>
                </a:solidFill>
              </a:rPr>
              <a:t>LATENT SPACE</a:t>
            </a:r>
          </a:p>
        </p:txBody>
      </p:sp>
      <p:sp>
        <p:nvSpPr>
          <p:cNvPr id="13" name="Oval 12"/>
          <p:cNvSpPr/>
          <p:nvPr/>
        </p:nvSpPr>
        <p:spPr>
          <a:xfrm>
            <a:off x="7726679" y="2148840"/>
            <a:ext cx="256032" cy="256032"/>
          </a:xfrm>
          <a:prstGeom prst="ellipse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21305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D3C"/>
                </a:solidFill>
              </a:rPr>
              <a:t>invoice</a:t>
            </a:r>
          </a:p>
        </p:txBody>
      </p:sp>
      <p:sp>
        <p:nvSpPr>
          <p:cNvPr id="15" name="Oval 14"/>
          <p:cNvSpPr/>
          <p:nvPr/>
        </p:nvSpPr>
        <p:spPr>
          <a:xfrm>
            <a:off x="9189720" y="1965960"/>
            <a:ext cx="256032" cy="256032"/>
          </a:xfrm>
          <a:prstGeom prst="ellipse">
            <a:avLst/>
          </a:prstGeom>
          <a:solidFill>
            <a:srgbClr val="3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194767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D3C"/>
                </a:solidFill>
              </a:rPr>
              <a:t>payment</a:t>
            </a:r>
          </a:p>
        </p:txBody>
      </p:sp>
      <p:sp>
        <p:nvSpPr>
          <p:cNvPr id="17" name="Oval 16"/>
          <p:cNvSpPr/>
          <p:nvPr/>
        </p:nvSpPr>
        <p:spPr>
          <a:xfrm>
            <a:off x="10287000" y="2743200"/>
            <a:ext cx="256032" cy="256032"/>
          </a:xfrm>
          <a:prstGeom prst="ellipse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9608" y="272491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D3C"/>
                </a:solidFill>
              </a:rPr>
              <a:t>finance</a:t>
            </a:r>
          </a:p>
        </p:txBody>
      </p:sp>
      <p:sp>
        <p:nvSpPr>
          <p:cNvPr id="19" name="Oval 18"/>
          <p:cNvSpPr/>
          <p:nvPr/>
        </p:nvSpPr>
        <p:spPr>
          <a:xfrm>
            <a:off x="8275320" y="3337560"/>
            <a:ext cx="256032" cy="256032"/>
          </a:xfrm>
          <a:prstGeom prst="ellipse">
            <a:avLst/>
          </a:prstGeom>
          <a:solidFill>
            <a:srgbClr val="2F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331927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D3C"/>
                </a:solidFill>
              </a:rPr>
              <a:t>contract</a:t>
            </a:r>
          </a:p>
        </p:txBody>
      </p:sp>
      <p:sp>
        <p:nvSpPr>
          <p:cNvPr id="21" name="Oval 20"/>
          <p:cNvSpPr/>
          <p:nvPr/>
        </p:nvSpPr>
        <p:spPr>
          <a:xfrm>
            <a:off x="9646920" y="3429000"/>
            <a:ext cx="256032" cy="256032"/>
          </a:xfrm>
          <a:prstGeom prst="ellipse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9528" y="341071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D3C"/>
                </a:solidFill>
              </a:rPr>
              <a:t>purchase</a:t>
            </a:r>
          </a:p>
        </p:txBody>
      </p:sp>
      <p:sp>
        <p:nvSpPr>
          <p:cNvPr id="23" name="Oval 22"/>
          <p:cNvSpPr/>
          <p:nvPr/>
        </p:nvSpPr>
        <p:spPr>
          <a:xfrm>
            <a:off x="10652760" y="2011680"/>
            <a:ext cx="256032" cy="256032"/>
          </a:xfrm>
          <a:prstGeom prst="ellipse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45368" y="199339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D3C"/>
                </a:solidFill>
              </a:rPr>
              <a:t>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886200"/>
            <a:ext cx="5394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Why latent space matters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Similar meanings tend to form nearby regions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Enables semantic search and retrieval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Supports clustering, recommendation and anomaly detection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• RAG retrieves vectors similar to the user’s 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886200"/>
            <a:ext cx="73152" cy="1600200"/>
          </a:xfrm>
          <a:prstGeom prst="rect">
            <a:avLst/>
          </a:prstGeom>
          <a:solidFill>
            <a:srgbClr val="3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46177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Key idea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Latent space is not a human-readable database of facts; it is a learned mathematical representation of patterns.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617720"/>
            <a:ext cx="73152" cy="96012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Agentic AI Engineering • Transformers •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4. Transformers in Agentic AI —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How transformer models become components inside autonomous, tool-using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RAG Agent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User question → embedding → vector search → retrieved context → LLM → grounded answer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Transformer roles: embeddings +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920240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Tool-Calling Agent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Goal → LLM decides action → API / database / Python tool → result → LLM → next action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Transformer acts as planner/controller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73152" cy="192024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Document Agent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PDF/email → encoder or multimodal model → structured facts → reasoning → workflow action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Transformer extracts and transforms knowledge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325880"/>
            <a:ext cx="73152" cy="1920240"/>
          </a:xfrm>
          <a:prstGeom prst="rect">
            <a:avLst/>
          </a:prstGeom>
          <a:solidFill>
            <a:srgbClr val="3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703320"/>
            <a:ext cx="11018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End-to-end mental model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TRANSFORMER = language/representation engine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LATENT SPACE = learned representation of patterns and meaning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AGENT = transformer + instructions + tools + memory + retrieval + orchestration + guardrails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03320"/>
            <a:ext cx="73152" cy="1508760"/>
          </a:xfrm>
          <a:prstGeom prst="rect">
            <a:avLst/>
          </a:prstGeom>
          <a:solidFill>
            <a:srgbClr val="2F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65960" y="5440680"/>
            <a:ext cx="822960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/>
            <a:r>
              <a:rPr sz="1600" b="1">
                <a:solidFill>
                  <a:srgbClr val="121F35"/>
                </a:solidFill>
              </a:rPr>
              <a:t>Takeaway</a:t>
            </a:r>
          </a:p>
          <a:p>
            <a:pPr>
              <a:spcAft>
                <a:spcPts val="500"/>
              </a:spcAft>
              <a:defRPr sz="1150">
                <a:solidFill>
                  <a:srgbClr val="232D3C"/>
                </a:solidFill>
              </a:defRPr>
            </a:pPr>
            <a:r>
              <a:t>Understand → represent → retrieve → reason/generate → act → observe → repeat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5440680"/>
            <a:ext cx="73152" cy="566928"/>
          </a:xfrm>
          <a:prstGeom prst="rect">
            <a:avLst/>
          </a:prstGeom>
          <a:solidFill>
            <a:srgbClr val="2A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Agentic AI Engineering • Transformers •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