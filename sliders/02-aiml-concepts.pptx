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698" r:id="rId2"/>
    <p:sldId id="623" r:id="rId3"/>
    <p:sldId id="700" r:id="rId4"/>
    <p:sldId id="701" r:id="rId5"/>
    <p:sldId id="635" r:id="rId6"/>
    <p:sldId id="702" r:id="rId7"/>
    <p:sldId id="703" r:id="rId8"/>
    <p:sldId id="704" r:id="rId9"/>
    <p:sldId id="708" r:id="rId10"/>
    <p:sldId id="709" r:id="rId11"/>
    <p:sldId id="710" r:id="rId12"/>
    <p:sldId id="711" r:id="rId13"/>
    <p:sldId id="706" r:id="rId14"/>
    <p:sldId id="713" r:id="rId15"/>
    <p:sldId id="714" r:id="rId16"/>
    <p:sldId id="715" r:id="rId17"/>
    <p:sldId id="712" r:id="rId18"/>
    <p:sldId id="722" r:id="rId19"/>
    <p:sldId id="718" r:id="rId20"/>
    <p:sldId id="717" r:id="rId21"/>
    <p:sldId id="721" r:id="rId22"/>
    <p:sldId id="627" r:id="rId23"/>
    <p:sldId id="287" r:id="rId24"/>
  </p:sldIdLst>
  <p:sldSz cx="12192000" cy="6858000"/>
  <p:notesSz cx="6858000" cy="9144000"/>
  <p:custDataLst>
    <p:tags r:id="rId2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99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3FD6A3-605E-A7B7-A7A5-F1A50D5AD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099AAD-0BD9-AB27-9772-9CF5F575A6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3815F8B-09D4-4825-8C46-01FDD4851F66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6DB11A-A88D-E355-099D-76F6DB87D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074B04-D47E-D0B7-17AB-5422E724E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D3146-56E2-E1B9-D823-BBA47DDD69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66C90-22CA-7615-F7C5-79EC108D5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70F5397-57B6-4410-96DF-E7EA3D7F6E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1CAD104F-9E14-7008-BBB9-BA8E23A593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53068140-F9E2-F28C-A79C-7E9EA9E173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3803D042-DED7-7582-5722-D9E7E9760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D8BBC2B-4643-4C22-A91F-5B326E2712CA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1C00-B75A-87C6-B493-F9418DF2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4FA00-5C4F-41C1-AB88-53CBB8732F1E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030E8-F6B2-7127-A994-1188EBF3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ABAE-9E3A-AE11-D17A-42C84A66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7967A-F8FC-4666-B74A-490A5A2D0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61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32B6-1155-4E55-BB3F-52EF6ED64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37374-D0F2-4049-973D-FCF64A7CBE46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30C9-7B21-ED73-45C4-29D20FE3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AF5C7-9E5E-79DA-9293-52A18C9B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AB568-C785-4011-8A4B-23FD09102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02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49786-6AE1-5974-220D-8E343607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68193-96CF-4AD8-9BC7-501CD6B77D9B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0A20C-93BF-F706-BAA0-0B06E61B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561EC-DC65-1C68-F613-F4C6B2D6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DE359-3571-48DE-B16F-AAFF66C5EF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39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C45C2D-6BD3-D568-5867-6F30B4DC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2146A-9C14-4129-988A-6C121EB389D4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A5481D-13C1-476D-90A0-28E89730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CD6D36-2686-0199-D48B-23D8DB55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EDD27-101C-4009-B679-3D2C30303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6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8F867C-5AFC-2301-F6A2-38FAEC9A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AC781-A768-45B7-9A8A-C1B5DC846C07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B413A03-DA29-E82A-3AAC-3C4AD000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9A0C59B-7188-CF21-AAF4-FC19089C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54B44F-E938-428F-9AF0-94BC38D8D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5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D6FCF5-ECBF-2938-0E2D-7A26B4B6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6AA26F-DAC6-4BAA-B5D2-386B14E45101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260B25-AEC4-06FC-185B-819A1473C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9A8D70-BFA0-E027-4EE2-350BD552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32040-7EDA-46BE-8481-CDC8819B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34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1EDB53-8DFF-6A6D-2A8C-2DB6D22D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C5899-76FD-42C4-9626-0F42E921AAFA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2FDF8EF-D86B-E462-FF53-98CDBBB5E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E85168-C917-D51F-09B6-E2713695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E8615-5DDE-4C34-9B59-FCCF10D80C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49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93C4BD-FB44-957D-DC5F-56D21172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D1C2B-D114-4000-A74E-A2A96B5E4916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6BC59-9A8C-A7D8-B52D-6C4DF64C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A7D4B3-12CF-59DD-567F-F4A981E0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EC3177-44F6-424D-B5F8-10571EE495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24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D7D8E4-2078-9367-4212-DE05DFA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3A4DF-8A5F-4FBD-A3A4-369BE9890133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0061A1-696F-E098-64AA-42B994F6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A759B42-50FD-5249-E7BE-0B5D5F66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ADEDB-43EB-43D0-B92A-4A14BC53F0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16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8DE9E-94A0-64E7-6656-8B923A8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71816-847C-4B1D-9EB8-4A271622EDB8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26AD-7114-AF51-76D5-DD2B7E11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7D40-EE4B-BEC1-CCB7-D6089567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4FED9-7146-44EE-AF72-9EE645F09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71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1D92-8224-7EC7-328B-0BB44F47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E8F8D-D5C9-4262-B2F2-9B445E1D2AA9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4CA6-2EAE-6CAF-ADE7-F4EFF89A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9077-D385-8E7B-D8A1-4FDDBF1D6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4FDDC-919B-41C5-A704-07E0E8E5B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837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11FC80D-8817-8C20-A9C9-E1E5B8E58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39348A7-5DD4-82C4-D2DC-19D6C95090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C5EE9-2014-CC21-A8B6-856C05CA8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ADD56E-00D0-4432-9B31-7AB0F6766300}" type="datetimeFigureOut">
              <a:rPr lang="en-US"/>
              <a:pPr>
                <a:defRPr/>
              </a:pPr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F93D6-A5CE-7E19-48FB-EFE898677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2FD9-DC93-9945-959A-ADBCA873D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88B10E8-CEB3-4E70-80D8-7DC3032F4D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aphicFrame>
        <p:nvGraphicFramePr>
          <p:cNvPr id="1031" name="Object 6" hidden="1">
            <a:extLst>
              <a:ext uri="{FF2B5EF4-FFF2-40B4-BE49-F238E27FC236}">
                <a16:creationId xmlns:a16="http://schemas.microsoft.com/office/drawing/2014/main" id="{823FA8FE-34BE-CA7C-F6BB-D0E2ABA86B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0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86B1963-C7C9-8F3F-0CAF-7014BCE7FB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supervised learning concepts</a:t>
            </a:r>
          </a:p>
        </p:txBody>
      </p:sp>
    </p:spTree>
    <p:extLst>
      <p:ext uri="{BB962C8B-B14F-4D97-AF65-F5344CB8AC3E}">
        <p14:creationId xmlns:p14="http://schemas.microsoft.com/office/powerpoint/2010/main" val="339499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BD6E-6ECC-7986-91CD-3ACF1202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72345"/>
            <a:ext cx="10515600" cy="4818856"/>
          </a:xfrm>
        </p:spPr>
        <p:txBody>
          <a:bodyPr numCol="2"/>
          <a:lstStyle/>
          <a:p>
            <a:pPr>
              <a:lnSpc>
                <a:spcPct val="150000"/>
              </a:lnSpc>
            </a:pPr>
            <a:r>
              <a:rPr lang="en-US" sz="2000" dirty="0"/>
              <a:t>Data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Feature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Label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Labeled example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Unlabeled example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Model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Training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Prediction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Evaluating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Inference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Loss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2192000" cy="68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Foundational supervised learning concepts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23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BE45-6C2F-9498-8D6A-3291A0CB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F18EA6-B834-9646-9CA5-7C259CEEA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5727"/>
          <a:stretch>
            <a:fillRect/>
          </a:stretch>
        </p:blipFill>
        <p:spPr>
          <a:xfrm>
            <a:off x="-14748" y="0"/>
            <a:ext cx="12206748" cy="6858000"/>
          </a:xfrm>
        </p:spPr>
      </p:pic>
    </p:spTree>
    <p:extLst>
      <p:ext uri="{BB962C8B-B14F-4D97-AF65-F5344CB8AC3E}">
        <p14:creationId xmlns:p14="http://schemas.microsoft.com/office/powerpoint/2010/main" val="250582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650FC-39FF-A155-E6C7-AA325FD4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073F-58DD-8B95-EEDE-1EDD9B63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80C052-231C-D31E-E0F2-59F2FFE47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73"/>
          <a:stretch>
            <a:fillRect/>
          </a:stretch>
        </p:blipFill>
        <p:spPr>
          <a:xfrm>
            <a:off x="-30480" y="0"/>
            <a:ext cx="12222480" cy="8077200"/>
          </a:xfrm>
        </p:spPr>
      </p:pic>
    </p:spTree>
    <p:extLst>
      <p:ext uri="{BB962C8B-B14F-4D97-AF65-F5344CB8AC3E}">
        <p14:creationId xmlns:p14="http://schemas.microsoft.com/office/powerpoint/2010/main" val="303466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BD6E-6ECC-7986-91CD-3ACF12024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18" y="3253078"/>
            <a:ext cx="10515600" cy="704055"/>
          </a:xfrm>
        </p:spPr>
        <p:txBody>
          <a:bodyPr/>
          <a:lstStyle/>
          <a:p>
            <a:r>
              <a:rPr lang="en-US" sz="2000" dirty="0"/>
              <a:t>You will use feature(x) and predict or find the value of Label (y)</a:t>
            </a:r>
          </a:p>
          <a:p>
            <a:pPr lvl="1"/>
            <a:r>
              <a:rPr lang="en-US" sz="1600" dirty="0"/>
              <a:t>Ex: Price of the Car Model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-26437" y="2335431"/>
            <a:ext cx="12192000" cy="7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/>
              <a:t>label(y)</a:t>
            </a:r>
            <a:endParaRPr lang="en-IN" sz="40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A7283-D780-4FB5-A732-7A46B0CC3030}"/>
              </a:ext>
            </a:extLst>
          </p:cNvPr>
          <p:cNvSpPr txBox="1">
            <a:spLocks/>
          </p:cNvSpPr>
          <p:nvPr/>
        </p:nvSpPr>
        <p:spPr bwMode="auto">
          <a:xfrm>
            <a:off x="4665" y="263321"/>
            <a:ext cx="12160898" cy="718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/>
              <a:t>features(x)</a:t>
            </a:r>
            <a:endParaRPr lang="en-IN" sz="4000" dirty="0">
              <a:latin typeface="+mn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3A5720-5182-7877-FD61-0A80D9B9F79D}"/>
              </a:ext>
            </a:extLst>
          </p:cNvPr>
          <p:cNvSpPr txBox="1">
            <a:spLocks/>
          </p:cNvSpPr>
          <p:nvPr/>
        </p:nvSpPr>
        <p:spPr bwMode="auto">
          <a:xfrm>
            <a:off x="660918" y="1195368"/>
            <a:ext cx="10515600" cy="917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000" dirty="0"/>
              <a:t>One which helps to define an example</a:t>
            </a:r>
          </a:p>
          <a:p>
            <a:pPr lvl="1" eaLnBrk="1" hangingPunct="1"/>
            <a:r>
              <a:rPr lang="en-US" sz="1600" dirty="0"/>
              <a:t>Ex: HP, </a:t>
            </a:r>
            <a:r>
              <a:rPr lang="en-US" sz="1600" dirty="0" err="1"/>
              <a:t>Color,Weight</a:t>
            </a:r>
            <a:r>
              <a:rPr lang="en-US" sz="1600" dirty="0"/>
              <a:t> ,Model Year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27584C-F63F-E563-2985-D49180435231}"/>
              </a:ext>
            </a:extLst>
          </p:cNvPr>
          <p:cNvSpPr txBox="1">
            <a:spLocks/>
          </p:cNvSpPr>
          <p:nvPr/>
        </p:nvSpPr>
        <p:spPr bwMode="auto">
          <a:xfrm>
            <a:off x="637591" y="5137714"/>
            <a:ext cx="10515600" cy="116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000" dirty="0"/>
              <a:t>In supervised learning, we use features and labels in training a piece of software, called a model, to make useful predictions from data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B02C08-232A-F82F-1922-07180C7B13A9}"/>
              </a:ext>
            </a:extLst>
          </p:cNvPr>
          <p:cNvSpPr txBox="1">
            <a:spLocks/>
          </p:cNvSpPr>
          <p:nvPr/>
        </p:nvSpPr>
        <p:spPr bwMode="auto">
          <a:xfrm>
            <a:off x="-20217" y="4243899"/>
            <a:ext cx="12192000" cy="665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US" altLang="en-US" sz="4000" dirty="0"/>
              <a:t>model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992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FE4FD-D6D9-9724-CFAA-1D8B67EF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66D7FD25-C0CE-4A59-5497-89B7892BA2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Common Use cases for 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61533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A8A36-29E0-E291-B2AD-463D977D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19945"/>
          </a:xfrm>
        </p:spPr>
        <p:txBody>
          <a:bodyPr/>
          <a:lstStyle/>
          <a:p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Common Use cases for 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349A-5E9A-6BD0-158D-DF5838134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5181600" cy="4351338"/>
          </a:xfrm>
        </p:spPr>
        <p:txBody>
          <a:bodyPr/>
          <a:lstStyle/>
          <a:p>
            <a:r>
              <a:rPr lang="en-US" dirty="0"/>
              <a:t>Regression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regression</a:t>
            </a:r>
            <a:r>
              <a:rPr lang="en-US" dirty="0"/>
              <a:t> model making a numeric prediction</a:t>
            </a:r>
            <a:endParaRPr lang="en-IN" dirty="0"/>
          </a:p>
          <a:p>
            <a:pPr lvl="2"/>
            <a:r>
              <a:rPr lang="en-US" dirty="0">
                <a:solidFill>
                  <a:schemeClr val="accent4"/>
                </a:solidFill>
              </a:rPr>
              <a:t>Linear Regression </a:t>
            </a:r>
            <a:r>
              <a:rPr lang="en-US" dirty="0"/>
              <a:t>– Predicts a continuous value using a linear relationship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Ridge Regression </a:t>
            </a:r>
            <a:r>
              <a:rPr lang="en-US" dirty="0"/>
              <a:t>– Linear regression with L2 regularization to prevent overfitting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Lasso Regression </a:t>
            </a:r>
            <a:r>
              <a:rPr lang="en-US" dirty="0"/>
              <a:t>– Linear regression with L1 regularization for feature selection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Elastic Net Regression </a:t>
            </a:r>
            <a:r>
              <a:rPr lang="en-US" dirty="0"/>
              <a:t>– Combines L1 and L2 regularization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1FEBE-B2C2-872C-DB4F-97229FD3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1252" y="1295400"/>
            <a:ext cx="5181600" cy="4776019"/>
          </a:xfrm>
        </p:spPr>
        <p:txBody>
          <a:bodyPr/>
          <a:lstStyle/>
          <a:p>
            <a:r>
              <a:rPr lang="en-US" dirty="0"/>
              <a:t>Classification</a:t>
            </a:r>
            <a:endParaRPr lang="en-IN" dirty="0"/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classification</a:t>
            </a:r>
            <a:r>
              <a:rPr lang="en-US" dirty="0"/>
              <a:t> model making predictions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Logistic Regression</a:t>
            </a:r>
            <a:r>
              <a:rPr lang="en-US" dirty="0"/>
              <a:t> – Despite the name, it's used for binary classification (e.g., spam vs. not spam)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Decision Trees</a:t>
            </a:r>
            <a:r>
              <a:rPr lang="en-US" dirty="0"/>
              <a:t> – Classify data by learning decision rules from features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Random Forest </a:t>
            </a:r>
            <a:r>
              <a:rPr lang="en-US" dirty="0"/>
              <a:t>– An ensemble of decision trees for more robust classification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Naive Bayes </a:t>
            </a:r>
            <a:r>
              <a:rPr lang="en-US" dirty="0"/>
              <a:t>– Based on Bayes’ theorem, good for text classification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K-Nearest Neighbors (KNN) </a:t>
            </a:r>
            <a:r>
              <a:rPr lang="en-US" dirty="0"/>
              <a:t>– Classifies based on the majority class among nearest neighbors</a:t>
            </a:r>
            <a:endParaRPr lang="en-US" sz="36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98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B34F7-06A9-A834-501F-EDF7F655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D3653458-08C7-C1CE-FEBC-891CCD4E4D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58825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301691-A806-9FE2-D57D-CF289B9FF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962101"/>
              </p:ext>
            </p:extLst>
          </p:nvPr>
        </p:nvGraphicFramePr>
        <p:xfrm>
          <a:off x="5358745" y="0"/>
          <a:ext cx="6833255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8499">
                  <a:extLst>
                    <a:ext uri="{9D8B030D-6E8A-4147-A177-3AD203B41FA5}">
                      <a16:colId xmlns:a16="http://schemas.microsoft.com/office/drawing/2014/main" val="383435080"/>
                    </a:ext>
                  </a:extLst>
                </a:gridCol>
                <a:gridCol w="3174756">
                  <a:extLst>
                    <a:ext uri="{9D8B030D-6E8A-4147-A177-3AD203B41FA5}">
                      <a16:colId xmlns:a16="http://schemas.microsoft.com/office/drawing/2014/main" val="267661748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Advertising Spend ($1000s)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Sales Revenue ($1000s)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564277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5.2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12.1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75205043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6.8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13.5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421965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7.5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15.3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484093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8.0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15.9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70324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9.1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17.2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16989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10.3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18.5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51539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11.2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20.1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251279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12.0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21.3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52631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13.5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23.0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9815221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14.8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24.5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51532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16.1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26.3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380802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17.4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28.1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08286806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/>
                        <a:t>18.7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29.8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193190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sz="2400" dirty="0"/>
                        <a:t>20.0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31.5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40597295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02412CD4-6AB5-9C4A-19DD-3A7471B1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590800"/>
            <a:ext cx="464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Advertising Spend</a:t>
            </a:r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(feature) </a:t>
            </a:r>
          </a:p>
          <a:p>
            <a:pPr eaLnBrk="1" hangingPunct="1"/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 </a:t>
            </a: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Revenue </a:t>
            </a:r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(label)</a:t>
            </a:r>
          </a:p>
        </p:txBody>
      </p:sp>
    </p:spTree>
    <p:extLst>
      <p:ext uri="{BB962C8B-B14F-4D97-AF65-F5344CB8AC3E}">
        <p14:creationId xmlns:p14="http://schemas.microsoft.com/office/powerpoint/2010/main" val="304709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E8AE-DCCC-F337-7C19-D39D38CA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F30EA-99BC-2A13-FEE7-C4B248BD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1B788-3AF8-3A6E-E2FD-C91BCFEEA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" y="17362"/>
            <a:ext cx="12188142" cy="684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6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4AFD-EAEA-34AB-2E0F-B0BA1DC9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9BAC989F-456F-AB7D-A860-94B4D3759F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to make the best fit ?</a:t>
            </a:r>
          </a:p>
        </p:txBody>
      </p:sp>
    </p:spTree>
    <p:extLst>
      <p:ext uri="{BB962C8B-B14F-4D97-AF65-F5344CB8AC3E}">
        <p14:creationId xmlns:p14="http://schemas.microsoft.com/office/powerpoint/2010/main" val="396960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4DA80-A8EB-C06C-C96E-E0EA252E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F2782-EC98-DA7B-CF8B-16391D1E0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F7093-DC0C-9309-88EA-156C58F4A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25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759509-BA24-D384-C446-4434146872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0496" y="-13504"/>
            <a:ext cx="6871504" cy="6871504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BBFFB0-26BA-782A-68A5-38B232D5771B}"/>
              </a:ext>
            </a:extLst>
          </p:cNvPr>
          <p:cNvSpPr txBox="1">
            <a:spLocks/>
          </p:cNvSpPr>
          <p:nvPr/>
        </p:nvSpPr>
        <p:spPr bwMode="auto">
          <a:xfrm>
            <a:off x="457200" y="2555075"/>
            <a:ext cx="4038600" cy="173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Linear Equation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823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A031-F838-FA66-8B07-1A325996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42BC14-8409-83E0-D4C1-E8CB6812D828}"/>
              </a:ext>
            </a:extLst>
          </p:cNvPr>
          <p:cNvSpPr txBox="1">
            <a:spLocks/>
          </p:cNvSpPr>
          <p:nvPr/>
        </p:nvSpPr>
        <p:spPr bwMode="auto">
          <a:xfrm>
            <a:off x="457200" y="2555075"/>
            <a:ext cx="4038600" cy="173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Revenue = </a:t>
            </a:r>
          </a:p>
          <a:p>
            <a:pPr algn="ctr" eaLnBrk="1" hangingPunct="1"/>
            <a:r>
              <a:rPr lang="en-US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 + (1.32 × Advertising Spend)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A1EE2B-26C7-7397-1272-49362AFF6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0" y="-8681"/>
            <a:ext cx="6858000" cy="6858000"/>
          </a:xfrm>
        </p:spPr>
      </p:pic>
    </p:spTree>
    <p:extLst>
      <p:ext uri="{BB962C8B-B14F-4D97-AF65-F5344CB8AC3E}">
        <p14:creationId xmlns:p14="http://schemas.microsoft.com/office/powerpoint/2010/main" val="1389220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3B33-C7E6-1585-72D1-36656983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8D53880E-5835-3C95-7D0D-F44B7591F6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249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3B6281-D9CF-4024-36D6-762CD489A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499881"/>
              </p:ext>
            </p:extLst>
          </p:nvPr>
        </p:nvGraphicFramePr>
        <p:xfrm>
          <a:off x="6781800" y="0"/>
          <a:ext cx="54102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9664829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6064861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  <a:r>
                        <a:rPr lang="en-IN" sz="2400" dirty="0" err="1"/>
                        <a:t>xam_score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34715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58358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5157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183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152269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626799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81051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33415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4506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8549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37644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08347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04933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18744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79192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CAE4CDD-3458-E030-80D5-393706FB7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464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 Score (feature) </a:t>
            </a:r>
          </a:p>
          <a:p>
            <a:pPr algn="ctr" eaLnBrk="1" hangingPunct="1"/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 </a:t>
            </a: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Results </a:t>
            </a:r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(label)</a:t>
            </a:r>
          </a:p>
        </p:txBody>
      </p:sp>
    </p:spTree>
    <p:extLst>
      <p:ext uri="{BB962C8B-B14F-4D97-AF65-F5344CB8AC3E}">
        <p14:creationId xmlns:p14="http://schemas.microsoft.com/office/powerpoint/2010/main" val="85002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4618-9E27-013B-B345-4A96970A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8B710F38-186B-6F81-C791-744EB429F3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to make the best fit ?</a:t>
            </a:r>
          </a:p>
        </p:txBody>
      </p:sp>
    </p:spTree>
    <p:extLst>
      <p:ext uri="{BB962C8B-B14F-4D97-AF65-F5344CB8AC3E}">
        <p14:creationId xmlns:p14="http://schemas.microsoft.com/office/powerpoint/2010/main" val="270185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7E8BB-C055-0E3C-8689-2C51C2BC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C08CD1-2EA9-C322-3F16-C12263853AB2}"/>
              </a:ext>
            </a:extLst>
          </p:cNvPr>
          <p:cNvSpPr txBox="1">
            <a:spLocks/>
          </p:cNvSpPr>
          <p:nvPr/>
        </p:nvSpPr>
        <p:spPr bwMode="auto">
          <a:xfrm>
            <a:off x="457200" y="2555075"/>
            <a:ext cx="4038600" cy="173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Sigmoid Function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B5470D-8AF0-7A90-9D1B-BE4498A79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5397" y="-38100"/>
            <a:ext cx="6896100" cy="6896100"/>
          </a:xfrm>
        </p:spPr>
      </p:pic>
    </p:spTree>
    <p:extLst>
      <p:ext uri="{BB962C8B-B14F-4D97-AF65-F5344CB8AC3E}">
        <p14:creationId xmlns:p14="http://schemas.microsoft.com/office/powerpoint/2010/main" val="3605487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3FC4-D272-4A4A-79AE-063FA6BB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DEA573-118E-3C6A-91AC-0EAE1BC43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66302"/>
              </p:ext>
            </p:extLst>
          </p:nvPr>
        </p:nvGraphicFramePr>
        <p:xfrm>
          <a:off x="6781800" y="0"/>
          <a:ext cx="54102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9664829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6064861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r>
                        <a:rPr lang="en-US" sz="2400" dirty="0"/>
                        <a:t>Exam Score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34715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58358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65157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183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5152269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626799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81051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33415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14506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28549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37644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08347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04933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18744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r>
                        <a:rPr lang="en-IN" sz="240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79192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A6069C1-4B79-B02D-DD88-DF846E21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5600"/>
            <a:ext cx="464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Exam Score (feature) </a:t>
            </a:r>
          </a:p>
          <a:p>
            <a:pPr algn="ctr" eaLnBrk="1" hangingPunct="1"/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 </a:t>
            </a:r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Results </a:t>
            </a:r>
            <a:r>
              <a:rPr lang="en-US" alt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(label)</a:t>
            </a:r>
          </a:p>
        </p:txBody>
      </p:sp>
    </p:spTree>
    <p:extLst>
      <p:ext uri="{BB962C8B-B14F-4D97-AF65-F5344CB8AC3E}">
        <p14:creationId xmlns:p14="http://schemas.microsoft.com/office/powerpoint/2010/main" val="27358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B04A-7F08-2745-02E2-31449C80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D8019-2FA3-6BE7-A75F-C28011A1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7D6D7-70C1-3AF2-5A23-4E32BB2E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/>
          <a:stretch>
            <a:fillRect/>
          </a:stretch>
        </p:blipFill>
        <p:spPr>
          <a:xfrm>
            <a:off x="609600" y="47654"/>
            <a:ext cx="10972800" cy="681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83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E528-711E-69B2-C679-8919F694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5F0367C5-89D0-3B42-3B33-210F47382A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419600"/>
            <a:ext cx="12192000" cy="836613"/>
          </a:xfrm>
        </p:spPr>
        <p:txBody>
          <a:bodyPr/>
          <a:lstStyle/>
          <a:p>
            <a:pPr algn="l"/>
            <a:r>
              <a:rPr lang="en-US" altLang="en-US" sz="4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Training and Loss Functions</a:t>
            </a:r>
          </a:p>
        </p:txBody>
      </p:sp>
    </p:spTree>
    <p:extLst>
      <p:ext uri="{BB962C8B-B14F-4D97-AF65-F5344CB8AC3E}">
        <p14:creationId xmlns:p14="http://schemas.microsoft.com/office/powerpoint/2010/main" val="7442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14E32A-8EE0-97F5-DB3B-45B7402569D9}"/>
              </a:ext>
            </a:extLst>
          </p:cNvPr>
          <p:cNvSpPr txBox="1">
            <a:spLocks/>
          </p:cNvSpPr>
          <p:nvPr/>
        </p:nvSpPr>
        <p:spPr bwMode="auto">
          <a:xfrm>
            <a:off x="0" y="1"/>
            <a:ext cx="1219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en-IN" sz="4000" dirty="0"/>
              <a:t>Training and Loss Functions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290F9-B1FD-4705-5D46-52C99D8D033C}"/>
              </a:ext>
            </a:extLst>
          </p:cNvPr>
          <p:cNvSpPr txBox="1">
            <a:spLocks/>
          </p:cNvSpPr>
          <p:nvPr/>
        </p:nvSpPr>
        <p:spPr bwMode="auto">
          <a:xfrm>
            <a:off x="167640" y="3000373"/>
            <a:ext cx="7467600" cy="85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 eaLnBrk="1" hangingPunct="1"/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Loss function = (y-</a:t>
            </a:r>
            <a:r>
              <a:rPr lang="en-US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ŷ</a:t>
            </a:r>
            <a:r>
              <a:rPr lang="en-IN" sz="5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009A1D-FC2F-2E89-B633-177DC7060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-1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39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60FB6-F123-8D97-5562-FB11D1E1821E}"/>
              </a:ext>
            </a:extLst>
          </p:cNvPr>
          <p:cNvSpPr txBox="1">
            <a:spLocks/>
          </p:cNvSpPr>
          <p:nvPr/>
        </p:nvSpPr>
        <p:spPr>
          <a:xfrm>
            <a:off x="685800" y="3352800"/>
            <a:ext cx="10515600" cy="563563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dirty="0">
                <a:latin typeface="+mn-lt"/>
              </a:rPr>
              <a:t>Thank You</a:t>
            </a:r>
            <a:endParaRPr lang="en-US" sz="4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_AMO_UNIQUEIDENTIFIER" val="fe43e174-a4b9-4506-8cbc-8619ad224b80"/>
  <p:tag name="_AMO_REPORTCONTROLSVISIBLE" val="Emp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y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yTheme1" id="{1607FCF7-3E3A-475F-9053-C690BE246C1D}" vid="{56E20CC5-79CD-43A7-A8DB-79FB1A3235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MyTheme1</Template>
  <TotalTime>1066</TotalTime>
  <Words>425</Words>
  <Application>Microsoft Office PowerPoint</Application>
  <PresentationFormat>Widescreen</PresentationFormat>
  <Paragraphs>145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MyTheme1</vt:lpstr>
      <vt:lpstr>think-cell Slide</vt:lpstr>
      <vt:lpstr>Foundational supervised learning concepts</vt:lpstr>
      <vt:lpstr>PowerPoint Presentation</vt:lpstr>
      <vt:lpstr>PowerPoint Presentation</vt:lpstr>
      <vt:lpstr>PowerPoint Presentation</vt:lpstr>
      <vt:lpstr>PowerPoint Presentation</vt:lpstr>
      <vt:lpstr>Common Use cases for supervised learning</vt:lpstr>
      <vt:lpstr>Common Use cases for Supervised learning</vt:lpstr>
      <vt:lpstr>Linear Regression</vt:lpstr>
      <vt:lpstr>PowerPoint Presentation</vt:lpstr>
      <vt:lpstr>PowerPoint Presentation</vt:lpstr>
      <vt:lpstr>How to make the best fit ?</vt:lpstr>
      <vt:lpstr>PowerPoint Presentation</vt:lpstr>
      <vt:lpstr>PowerPoint Presentation</vt:lpstr>
      <vt:lpstr>PowerPoint Presentation</vt:lpstr>
      <vt:lpstr>Logistic Regression</vt:lpstr>
      <vt:lpstr>PowerPoint Presentation</vt:lpstr>
      <vt:lpstr>How to make the best fit ?</vt:lpstr>
      <vt:lpstr>PowerPoint Presentation</vt:lpstr>
      <vt:lpstr>PowerPoint Presentation</vt:lpstr>
      <vt:lpstr>PowerPoint Presentation</vt:lpstr>
      <vt:lpstr>Training and Loss Functions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Keywords &amp; Concepts </dc:title>
  <cp:lastModifiedBy>Learning Cloud</cp:lastModifiedBy>
  <cp:revision>136</cp:revision>
  <dcterms:created xsi:type="dcterms:W3CDTF">2015-08-26T06:09:50Z</dcterms:created>
  <dcterms:modified xsi:type="dcterms:W3CDTF">2025-06-29T16:11:31Z</dcterms:modified>
</cp:coreProperties>
</file>