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698" r:id="rId2"/>
    <p:sldId id="715" r:id="rId3"/>
    <p:sldId id="4680" r:id="rId4"/>
    <p:sldId id="4682" r:id="rId5"/>
    <p:sldId id="4688" r:id="rId6"/>
    <p:sldId id="4683" r:id="rId7"/>
    <p:sldId id="4684" r:id="rId8"/>
    <p:sldId id="4685" r:id="rId9"/>
    <p:sldId id="4687" r:id="rId10"/>
    <p:sldId id="623" r:id="rId11"/>
    <p:sldId id="703" r:id="rId12"/>
    <p:sldId id="705" r:id="rId13"/>
    <p:sldId id="704" r:id="rId14"/>
  </p:sldIdLst>
  <p:sldSz cx="12192000" cy="6858000"/>
  <p:notesSz cx="6858000" cy="9144000"/>
  <p:custDataLst>
    <p:tags r:id="rId1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C73AE-5981-41C4-AB78-9E4E895E2C76}" v="76" dt="2025-07-04T03:52:05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9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rning Cloud" userId="622d7d18e0d997fa" providerId="LiveId" clId="{6E9C73AE-5981-41C4-AB78-9E4E895E2C76}"/>
    <pc:docChg chg="modSld">
      <pc:chgData name="Learning Cloud" userId="622d7d18e0d997fa" providerId="LiveId" clId="{6E9C73AE-5981-41C4-AB78-9E4E895E2C76}" dt="2025-07-04T03:52:04.245" v="75" actId="5793"/>
      <pc:docMkLst>
        <pc:docMk/>
      </pc:docMkLst>
      <pc:sldChg chg="modSp modAnim">
        <pc:chgData name="Learning Cloud" userId="622d7d18e0d997fa" providerId="LiveId" clId="{6E9C73AE-5981-41C4-AB78-9E4E895E2C76}" dt="2025-07-04T03:51:05.441" v="13" actId="20577"/>
        <pc:sldMkLst>
          <pc:docMk/>
          <pc:sldMk cId="2069695872" sldId="703"/>
        </pc:sldMkLst>
        <pc:spChg chg="mod">
          <ac:chgData name="Learning Cloud" userId="622d7d18e0d997fa" providerId="LiveId" clId="{6E9C73AE-5981-41C4-AB78-9E4E895E2C76}" dt="2025-07-04T03:51:05.441" v="13" actId="20577"/>
          <ac:spMkLst>
            <pc:docMk/>
            <pc:sldMk cId="2069695872" sldId="703"/>
            <ac:spMk id="3" creationId="{2DC969F5-2C1C-1597-83B2-84B5279FB43A}"/>
          </ac:spMkLst>
        </pc:spChg>
      </pc:sldChg>
      <pc:sldChg chg="modSp mod modAnim">
        <pc:chgData name="Learning Cloud" userId="622d7d18e0d997fa" providerId="LiveId" clId="{6E9C73AE-5981-41C4-AB78-9E4E895E2C76}" dt="2025-07-04T03:52:04.245" v="75" actId="5793"/>
        <pc:sldMkLst>
          <pc:docMk/>
          <pc:sldMk cId="1326798634" sldId="705"/>
        </pc:sldMkLst>
        <pc:spChg chg="mod">
          <ac:chgData name="Learning Cloud" userId="622d7d18e0d997fa" providerId="LiveId" clId="{6E9C73AE-5981-41C4-AB78-9E4E895E2C76}" dt="2025-07-04T03:52:04.245" v="75" actId="5793"/>
          <ac:spMkLst>
            <pc:docMk/>
            <pc:sldMk cId="1326798634" sldId="705"/>
            <ac:spMk id="3" creationId="{F677E5E9-5E86-E499-83B8-21AF42C40BA3}"/>
          </ac:spMkLst>
        </pc:spChg>
      </pc:sldChg>
    </pc:docChg>
  </pc:docChgLst>
  <pc:docChgLst>
    <pc:chgData name="Learning Cloud" userId="622d7d18e0d997fa" providerId="LiveId" clId="{C464389E-2760-454A-9FF2-8E2674558D95}"/>
    <pc:docChg chg="addSld delSld modSld">
      <pc:chgData name="Learning Cloud" userId="622d7d18e0d997fa" providerId="LiveId" clId="{C464389E-2760-454A-9FF2-8E2674558D95}" dt="2025-07-03T06:28:12.398" v="14" actId="14100"/>
      <pc:docMkLst>
        <pc:docMk/>
      </pc:docMkLst>
      <pc:sldChg chg="del">
        <pc:chgData name="Learning Cloud" userId="622d7d18e0d997fa" providerId="LiveId" clId="{C464389E-2760-454A-9FF2-8E2674558D95}" dt="2025-07-03T06:06:10.068" v="0" actId="47"/>
        <pc:sldMkLst>
          <pc:docMk/>
          <pc:sldMk cId="3654302721" sldId="717"/>
        </pc:sldMkLst>
      </pc:sldChg>
      <pc:sldChg chg="addSp modSp new mod">
        <pc:chgData name="Learning Cloud" userId="622d7d18e0d997fa" providerId="LiveId" clId="{C464389E-2760-454A-9FF2-8E2674558D95}" dt="2025-07-03T06:28:12.398" v="14" actId="14100"/>
        <pc:sldMkLst>
          <pc:docMk/>
          <pc:sldMk cId="1741271951" sldId="4688"/>
        </pc:sldMkLst>
        <pc:picChg chg="add mod">
          <ac:chgData name="Learning Cloud" userId="622d7d18e0d997fa" providerId="LiveId" clId="{C464389E-2760-454A-9FF2-8E2674558D95}" dt="2025-07-03T06:28:12.398" v="14" actId="14100"/>
          <ac:picMkLst>
            <pc:docMk/>
            <pc:sldMk cId="1741271951" sldId="4688"/>
            <ac:picMk id="5" creationId="{A93394F8-9087-D3CF-FBD0-CB85AAFA8A69}"/>
          </ac:picMkLst>
        </pc:picChg>
      </pc:sldChg>
      <pc:sldChg chg="del">
        <pc:chgData name="Learning Cloud" userId="622d7d18e0d997fa" providerId="LiveId" clId="{C464389E-2760-454A-9FF2-8E2674558D95}" dt="2025-07-03T06:07:13.697" v="1" actId="47"/>
        <pc:sldMkLst>
          <pc:docMk/>
          <pc:sldMk cId="2362073076" sldId="4689"/>
        </pc:sldMkLst>
      </pc:sldChg>
      <pc:sldChg chg="del">
        <pc:chgData name="Learning Cloud" userId="622d7d18e0d997fa" providerId="LiveId" clId="{C464389E-2760-454A-9FF2-8E2674558D95}" dt="2025-07-03T06:07:25.282" v="6" actId="47"/>
        <pc:sldMkLst>
          <pc:docMk/>
          <pc:sldMk cId="4158450104" sldId="4690"/>
        </pc:sldMkLst>
      </pc:sldChg>
      <pc:sldChg chg="del">
        <pc:chgData name="Learning Cloud" userId="622d7d18e0d997fa" providerId="LiveId" clId="{C464389E-2760-454A-9FF2-8E2674558D95}" dt="2025-07-03T06:07:27.277" v="7" actId="47"/>
        <pc:sldMkLst>
          <pc:docMk/>
          <pc:sldMk cId="648485417" sldId="4691"/>
        </pc:sldMkLst>
      </pc:sldChg>
      <pc:sldChg chg="del">
        <pc:chgData name="Learning Cloud" userId="622d7d18e0d997fa" providerId="LiveId" clId="{C464389E-2760-454A-9FF2-8E2674558D95}" dt="2025-07-03T06:07:28.378" v="8" actId="47"/>
        <pc:sldMkLst>
          <pc:docMk/>
          <pc:sldMk cId="3201069834" sldId="4692"/>
        </pc:sldMkLst>
      </pc:sldChg>
      <pc:sldChg chg="del">
        <pc:chgData name="Learning Cloud" userId="622d7d18e0d997fa" providerId="LiveId" clId="{C464389E-2760-454A-9FF2-8E2674558D95}" dt="2025-07-03T06:07:15.313" v="2" actId="47"/>
        <pc:sldMkLst>
          <pc:docMk/>
          <pc:sldMk cId="4222368449" sldId="4693"/>
        </pc:sldMkLst>
      </pc:sldChg>
      <pc:sldChg chg="del">
        <pc:chgData name="Learning Cloud" userId="622d7d18e0d997fa" providerId="LiveId" clId="{C464389E-2760-454A-9FF2-8E2674558D95}" dt="2025-07-03T06:07:16.633" v="3" actId="47"/>
        <pc:sldMkLst>
          <pc:docMk/>
          <pc:sldMk cId="825646587" sldId="4694"/>
        </pc:sldMkLst>
      </pc:sldChg>
      <pc:sldChg chg="del">
        <pc:chgData name="Learning Cloud" userId="622d7d18e0d997fa" providerId="LiveId" clId="{C464389E-2760-454A-9FF2-8E2674558D95}" dt="2025-07-03T06:07:18.316" v="4" actId="47"/>
        <pc:sldMkLst>
          <pc:docMk/>
          <pc:sldMk cId="1684019383" sldId="4695"/>
        </pc:sldMkLst>
      </pc:sldChg>
      <pc:sldChg chg="del">
        <pc:chgData name="Learning Cloud" userId="622d7d18e0d997fa" providerId="LiveId" clId="{C464389E-2760-454A-9FF2-8E2674558D95}" dt="2025-07-03T06:07:31.453" v="9" actId="47"/>
        <pc:sldMkLst>
          <pc:docMk/>
          <pc:sldMk cId="3485185189" sldId="4696"/>
        </pc:sldMkLst>
      </pc:sldChg>
      <pc:sldChg chg="del">
        <pc:chgData name="Learning Cloud" userId="622d7d18e0d997fa" providerId="LiveId" clId="{C464389E-2760-454A-9FF2-8E2674558D95}" dt="2025-07-03T06:07:22.869" v="5" actId="47"/>
        <pc:sldMkLst>
          <pc:docMk/>
          <pc:sldMk cId="719699954" sldId="46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3FD6A3-605E-A7B7-A7A5-F1A50D5AD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99AAD-0BD9-AB27-9772-9CF5F575A6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3815F8B-09D4-4825-8C46-01FDD4851F66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36DB11A-A88D-E355-099D-76F6DB87D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2074B04-D47E-D0B7-17AB-5422E724E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D3146-56E2-E1B9-D823-BBA47DDD69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66C90-22CA-7615-F7C5-79EC108D5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70F5397-57B6-4410-96DF-E7EA3D7F6E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0F5397-57B6-4410-96DF-E7EA3D7F6EE9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414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305A-0C63-2451-EEA8-86D6A9ED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5EC2B-560B-CD56-7E98-7CED7CC69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919B4-2D24-A068-2965-A2997F3CA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4D274-37AD-6119-0190-9DE88F250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0F5397-57B6-4410-96DF-E7EA3D7F6EE9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901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6D6A5-88F4-93C5-569A-C6BA7ABD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A7A57-CE97-DF3B-CA3E-F680FC751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420D4-2714-759B-998E-4C7E7A246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6AB34-13AC-A3B2-3195-BF3EDA35B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0F5397-57B6-4410-96DF-E7EA3D7F6EE9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9546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8A62-F883-E04C-59E0-C960EA7B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DEF8F-236D-591B-18E7-8F8A4F57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3C835-21B2-5B63-F08C-0413354A8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DBB9E-B983-6AE7-3C95-ED4EAC1AD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0F5397-57B6-4410-96DF-E7EA3D7F6EE9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7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1C00-B75A-87C6-B493-F9418DF2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4FA00-5C4F-41C1-AB88-53CBB8732F1E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030E8-F6B2-7127-A994-1188EBF3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ABAE-9E3A-AE11-D17A-42C84A66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7967A-F8FC-4666-B74A-490A5A2D01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61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32B6-1155-4E55-BB3F-52EF6ED6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37374-D0F2-4049-973D-FCF64A7CBE46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430C9-7B21-ED73-45C4-29D20FE3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AF5C7-9E5E-79DA-9293-52A18C9B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AB568-C785-4011-8A4B-23FD09102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02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49786-6AE1-5974-220D-8E343607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68193-96CF-4AD8-9BC7-501CD6B77D9B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A20C-93BF-F706-BAA0-0B06E61B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561EC-DC65-1C68-F613-F4C6B2D6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DE359-3571-48DE-B16F-AAFF66C5EF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39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C45C2D-6BD3-D568-5867-6F30B4DC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2146A-9C14-4129-988A-6C121EB389D4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A5481D-13C1-476D-90A0-28E89730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BCD6D36-2686-0199-D48B-23D8DB55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EDD27-101C-4009-B679-3D2C303036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6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8F867C-5AFC-2301-F6A2-38FAEC9A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AC781-A768-45B7-9A8A-C1B5DC846C07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B413A03-DA29-E82A-3AAC-3C4AD000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A0C59B-7188-CF21-AAF4-FC19089C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4B44F-E938-428F-9AF0-94BC38D8D1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5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D6FCF5-ECBF-2938-0E2D-7A26B4B6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AA26F-DAC6-4BAA-B5D2-386B14E45101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2260B25-AEC4-06FC-185B-819A1473C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9A8D70-BFA0-E027-4EE2-350BD552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32040-7EDA-46BE-8481-CDC8819B1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34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1EDB53-8DFF-6A6D-2A8C-2DB6D22D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C5899-76FD-42C4-9626-0F42E921AAFA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2FDF8EF-D86B-E462-FF53-98CDBBB5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85168-C917-D51F-09B6-E2713695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E8615-5DDE-4C34-9B59-FCCF10D80C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49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93C4BD-FB44-957D-DC5F-56D21172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D1C2B-D114-4000-A74E-A2A96B5E4916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6BC59-9A8C-A7D8-B52D-6C4DF64C3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A7D4B3-12CF-59DD-567F-F4A981E0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C3177-44F6-424D-B5F8-10571EE495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24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D7D8E4-2078-9367-4212-DE05DFA0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3A4DF-8A5F-4FBD-A3A4-369BE9890133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0061A1-696F-E098-64AA-42B994F6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759B42-50FD-5249-E7BE-0B5D5F66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ADEDB-43EB-43D0-B92A-4A14BC53F0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16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8DE9E-94A0-64E7-6656-8B923A8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71816-847C-4B1D-9EB8-4A271622EDB8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26AD-7114-AF51-76D5-DD2B7E11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7D40-EE4B-BEC1-CCB7-D6089567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4FED9-7146-44EE-AF72-9EE645F09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71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1D92-8224-7EC7-328B-0BB44F47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E8F8D-D5C9-4262-B2F2-9B445E1D2AA9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4CA6-2EAE-6CAF-ADE7-F4EFF89A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9077-D385-8E7B-D8A1-4FDDBF1D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4FDDC-919B-41C5-A704-07E0E8E5BA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83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11FC80D-8817-8C20-A9C9-E1E5B8E58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39348A7-5DD4-82C4-D2DC-19D6C9509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C5EE9-2014-CC21-A8B6-856C05CA8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7ADD56E-00D0-4432-9B31-7AB0F6766300}" type="datetimeFigureOut">
              <a:rPr lang="en-US"/>
              <a:pPr>
                <a:defRPr/>
              </a:pPr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93D6-A5CE-7E19-48FB-EFE898677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32FD9-DC93-9945-959A-ADBCA873D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88B10E8-CEB3-4E70-80D8-7DC3032F4D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aphicFrame>
        <p:nvGraphicFramePr>
          <p:cNvPr id="1031" name="Object 6" hidden="1">
            <a:extLst>
              <a:ext uri="{FF2B5EF4-FFF2-40B4-BE49-F238E27FC236}">
                <a16:creationId xmlns:a16="http://schemas.microsoft.com/office/drawing/2014/main" id="{823FA8FE-34BE-CA7C-F6BB-D0E2ABA86B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1031" name="Object 6" hidden="1">
                        <a:extLst>
                          <a:ext uri="{FF2B5EF4-FFF2-40B4-BE49-F238E27FC236}">
                            <a16:creationId xmlns:a16="http://schemas.microsoft.com/office/drawing/2014/main" id="{823FA8FE-34BE-CA7C-F6BB-D0E2ABA86B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86B1963-C7C9-8F3F-0CAF-7014BCE7FB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Foundational Generative AI concepts</a:t>
            </a:r>
          </a:p>
        </p:txBody>
      </p:sp>
    </p:spTree>
    <p:extLst>
      <p:ext uri="{BB962C8B-B14F-4D97-AF65-F5344CB8AC3E}">
        <p14:creationId xmlns:p14="http://schemas.microsoft.com/office/powerpoint/2010/main" val="339499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A56D-6C25-5870-A55B-184A725C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150DA6A-4419-9DD4-D230-08DD1BE256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895600"/>
            <a:ext cx="12192000" cy="836613"/>
          </a:xfrm>
        </p:spPr>
        <p:txBody>
          <a:bodyPr/>
          <a:lstStyle/>
          <a:p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Generative AI</a:t>
            </a:r>
          </a:p>
        </p:txBody>
      </p:sp>
    </p:spTree>
    <p:extLst>
      <p:ext uri="{BB962C8B-B14F-4D97-AF65-F5344CB8AC3E}">
        <p14:creationId xmlns:p14="http://schemas.microsoft.com/office/powerpoint/2010/main" val="43260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2058-78C8-D4AA-A0B6-DFF6D35E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B73E-6931-342D-B03E-BD9F47EF3685}"/>
              </a:ext>
            </a:extLst>
          </p:cNvPr>
          <p:cNvSpPr txBox="1">
            <a:spLocks/>
          </p:cNvSpPr>
          <p:nvPr/>
        </p:nvSpPr>
        <p:spPr bwMode="auto">
          <a:xfrm>
            <a:off x="304800" y="1518136"/>
            <a:ext cx="5181600" cy="351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Generative AI is a type of artificial intelligence that can create new content—like text, images, music, or code—by learning patterns from existing data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D67E023B-3C84-2BF5-011E-B579BD3D4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6334" y="1518136"/>
            <a:ext cx="6245666" cy="3511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A650A1-B70E-B18F-E3AB-F17111604CA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GenAI ?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593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8778-41FF-5A6D-EA61-ABC4C7E4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40866-86DB-DE8F-4077-994C1885138D}"/>
              </a:ext>
            </a:extLst>
          </p:cNvPr>
          <p:cNvSpPr txBox="1">
            <a:spLocks/>
          </p:cNvSpPr>
          <p:nvPr/>
        </p:nvSpPr>
        <p:spPr bwMode="auto">
          <a:xfrm>
            <a:off x="685800" y="914400"/>
            <a:ext cx="10668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LLM (Large Language Model) is a deep learning model trained on massive text datasets to understand and generate human-like language.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Characteristics: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Based on Transformer architecture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Examples: GPT-4, BERT, </a:t>
            </a: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LLaMA</a:t>
            </a: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Trained using self-supervised learning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Can perform translation, summarization, Q&amp;A, and more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E909EC-0C49-DEFB-77E5-E29CD6275EEA}"/>
              </a:ext>
            </a:extLst>
          </p:cNvPr>
          <p:cNvSpPr txBox="1">
            <a:spLocks/>
          </p:cNvSpPr>
          <p:nvPr/>
        </p:nvSpPr>
        <p:spPr bwMode="auto">
          <a:xfrm>
            <a:off x="12290" y="76200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LLM?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879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84F1-A2CD-5E7B-405B-824237BF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0B541-C718-62FA-6C1D-915D54B46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394F8-9087-D3CF-FBD0-CB85AAFA8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-9832"/>
            <a:ext cx="12192000" cy="686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7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50FC8-06E8-513B-BC25-13447E81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C207C-1120-535E-5DFA-306B5D2CCF41}"/>
              </a:ext>
            </a:extLst>
          </p:cNvPr>
          <p:cNvSpPr txBox="1">
            <a:spLocks/>
          </p:cNvSpPr>
          <p:nvPr/>
        </p:nvSpPr>
        <p:spPr bwMode="auto">
          <a:xfrm>
            <a:off x="685800" y="914400"/>
            <a:ext cx="10668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Converts data into numerical vectors capturing semantic meaning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Example Tools:</a:t>
            </a:r>
          </a:p>
          <a:p>
            <a:pPr marL="342900" indent="-342900" algn="just">
              <a:lnSpc>
                <a:spcPct val="100000"/>
              </a:lnSpc>
              <a:buFontTx/>
              <a:buChar char="-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Word2Vec</a:t>
            </a:r>
          </a:p>
          <a:p>
            <a:pPr marL="342900" indent="-342900" algn="just">
              <a:lnSpc>
                <a:spcPct val="100000"/>
              </a:lnSpc>
              <a:buFontTx/>
              <a:buChar char="-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BERT embeddings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A2FFEC-40FE-95D9-0C64-7DB94AE1E311}"/>
              </a:ext>
            </a:extLst>
          </p:cNvPr>
          <p:cNvSpPr txBox="1">
            <a:spLocks/>
          </p:cNvSpPr>
          <p:nvPr/>
        </p:nvSpPr>
        <p:spPr bwMode="auto">
          <a:xfrm>
            <a:off x="0" y="27039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Embeddings ?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683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E612-5E54-C4CC-21D2-7AB76528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230BD-3617-7305-6953-C545FAA12D96}"/>
              </a:ext>
            </a:extLst>
          </p:cNvPr>
          <p:cNvSpPr txBox="1">
            <a:spLocks/>
          </p:cNvSpPr>
          <p:nvPr/>
        </p:nvSpPr>
        <p:spPr bwMode="auto">
          <a:xfrm>
            <a:off x="685800" y="914400"/>
            <a:ext cx="10668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Stores and retrieves embeddings using similarity search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Example Tools:</a:t>
            </a:r>
          </a:p>
          <a:p>
            <a:pPr marL="342900" indent="-342900" algn="just">
              <a:lnSpc>
                <a:spcPct val="100000"/>
              </a:lnSpc>
              <a:buFontTx/>
              <a:buChar char="-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Pinecone</a:t>
            </a:r>
          </a:p>
          <a:p>
            <a:pPr marL="342900" indent="-342900" algn="just">
              <a:lnSpc>
                <a:spcPct val="100000"/>
              </a:lnSpc>
              <a:buFontTx/>
              <a:buChar char="-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FAISS</a:t>
            </a:r>
          </a:p>
          <a:p>
            <a:pPr marL="342900" indent="-342900" algn="just">
              <a:lnSpc>
                <a:spcPct val="100000"/>
              </a:lnSpc>
              <a:buFontTx/>
              <a:buChar char="-"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Chroma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DD6E65-2D16-8B69-4646-7DA19D70F82B}"/>
              </a:ext>
            </a:extLst>
          </p:cNvPr>
          <p:cNvSpPr txBox="1">
            <a:spLocks/>
          </p:cNvSpPr>
          <p:nvPr/>
        </p:nvSpPr>
        <p:spPr bwMode="auto">
          <a:xfrm>
            <a:off x="0" y="46704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are Vector Databases ?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110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ADFF-2F2E-2F51-44CF-F6A9DACD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4DF2-30AC-B26B-1152-F94C78F00269}"/>
              </a:ext>
            </a:extLst>
          </p:cNvPr>
          <p:cNvSpPr txBox="1">
            <a:spLocks/>
          </p:cNvSpPr>
          <p:nvPr/>
        </p:nvSpPr>
        <p:spPr bwMode="auto">
          <a:xfrm>
            <a:off x="685800" y="914400"/>
            <a:ext cx="10668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Enhances LLMs by retrieving relevant documents before generating responses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Example Tools:</a:t>
            </a:r>
          </a:p>
          <a:p>
            <a:pPr marL="342900" indent="-342900" algn="just">
              <a:lnSpc>
                <a:spcPct val="100000"/>
              </a:lnSpc>
              <a:buFontTx/>
              <a:buChar char="-"/>
            </a:pP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LangChain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+ Vector DB + LLM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5B0789-5FCF-66A2-27A9-C8961885AD3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RAG (Retrieval-Augmented Generation) ?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180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30E3BD-2F3C-7524-C10C-50ADC9CDB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158629"/>
              </p:ext>
            </p:extLst>
          </p:nvPr>
        </p:nvGraphicFramePr>
        <p:xfrm>
          <a:off x="2458" y="-4916"/>
          <a:ext cx="12189542" cy="6862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180">
                  <a:extLst>
                    <a:ext uri="{9D8B030D-6E8A-4147-A177-3AD203B41FA5}">
                      <a16:colId xmlns:a16="http://schemas.microsoft.com/office/drawing/2014/main" val="2990522096"/>
                    </a:ext>
                  </a:extLst>
                </a:gridCol>
                <a:gridCol w="6815049">
                  <a:extLst>
                    <a:ext uri="{9D8B030D-6E8A-4147-A177-3AD203B41FA5}">
                      <a16:colId xmlns:a16="http://schemas.microsoft.com/office/drawing/2014/main" val="2515282577"/>
                    </a:ext>
                  </a:extLst>
                </a:gridCol>
                <a:gridCol w="3461313">
                  <a:extLst>
                    <a:ext uri="{9D8B030D-6E8A-4147-A177-3AD203B41FA5}">
                      <a16:colId xmlns:a16="http://schemas.microsoft.com/office/drawing/2014/main" val="3319028218"/>
                    </a:ext>
                  </a:extLst>
                </a:gridCol>
              </a:tblGrid>
              <a:tr h="881993">
                <a:tc>
                  <a:txBody>
                    <a:bodyPr/>
                    <a:lstStyle/>
                    <a:p>
                      <a:r>
                        <a:rPr lang="en-US" sz="2000" dirty="0"/>
                        <a:t>Concept</a:t>
                      </a:r>
                      <a:endParaRPr lang="en-IN" sz="2000" dirty="0"/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Definition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Examples/Tools</a:t>
                      </a:r>
                      <a:endParaRPr lang="en-IN" sz="2000" dirty="0"/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687481802"/>
                  </a:ext>
                </a:extLst>
              </a:tr>
              <a:tr h="1495231">
                <a:tc>
                  <a:txBody>
                    <a:bodyPr/>
                    <a:lstStyle/>
                    <a:p>
                      <a:r>
                        <a:rPr lang="en-IN" sz="2000" b="1" dirty="0" err="1"/>
                        <a:t>LangChain</a:t>
                      </a:r>
                      <a:endParaRPr lang="en-IN" sz="2000" dirty="0"/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Framework for chaining LLM components like prompts, tools, and memory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Chains, Agents, Memory, Tools</a:t>
                      </a: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900923618"/>
                  </a:ext>
                </a:extLst>
              </a:tr>
              <a:tr h="1495231">
                <a:tc>
                  <a:txBody>
                    <a:bodyPr/>
                    <a:lstStyle/>
                    <a:p>
                      <a:r>
                        <a:rPr lang="en-IN" sz="2000" b="1" dirty="0" err="1"/>
                        <a:t>LangChain</a:t>
                      </a:r>
                      <a:r>
                        <a:rPr lang="en-IN" sz="2000" b="1" dirty="0"/>
                        <a:t> in RAG</a:t>
                      </a:r>
                      <a:endParaRPr lang="en-IN" sz="2000" dirty="0"/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Manages document loading, embedding, retrieval, and LLM integration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LangChain</a:t>
                      </a:r>
                      <a:r>
                        <a:rPr lang="en-IN" sz="2000" dirty="0"/>
                        <a:t> + Chroma + OpenAI</a:t>
                      </a: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448897992"/>
                  </a:ext>
                </a:extLst>
              </a:tr>
              <a:tr h="1495231">
                <a:tc>
                  <a:txBody>
                    <a:bodyPr/>
                    <a:lstStyle/>
                    <a:p>
                      <a:r>
                        <a:rPr lang="en-IN" sz="2000" b="1"/>
                        <a:t>Prompt Engineering</a:t>
                      </a:r>
                      <a:endParaRPr lang="en-IN" sz="2000"/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Designing effective prompts to guide LLM behavior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Few-shot prompts, zero-shot prompts</a:t>
                      </a: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2231645738"/>
                  </a:ext>
                </a:extLst>
              </a:tr>
              <a:tr h="1495231">
                <a:tc>
                  <a:txBody>
                    <a:bodyPr/>
                    <a:lstStyle/>
                    <a:p>
                      <a:r>
                        <a:rPr lang="en-IN" sz="2000" b="1"/>
                        <a:t>Fine-Tuning</a:t>
                      </a:r>
                      <a:endParaRPr lang="en-IN" sz="2000"/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Retraining LLMs on domain-specific data for specialized tasks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Custom GPT models, domain-specific </a:t>
                      </a:r>
                      <a:r>
                        <a:rPr lang="en-US" sz="2000" dirty="0" err="1"/>
                        <a:t>LLaMA</a:t>
                      </a:r>
                      <a:endParaRPr lang="en-US" sz="2000" dirty="0"/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2187389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76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BD6E-6ECC-7986-91CD-3ACF1202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72344"/>
            <a:ext cx="10515600" cy="5276055"/>
          </a:xfrm>
        </p:spPr>
        <p:txBody>
          <a:bodyPr numCol="2"/>
          <a:lstStyle/>
          <a:p>
            <a:pPr>
              <a:lnSpc>
                <a:spcPct val="150000"/>
              </a:lnSpc>
            </a:pPr>
            <a:r>
              <a:rPr lang="en-US" sz="2000" dirty="0"/>
              <a:t>Chat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Few-shot prompting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Fine-tuning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Gemini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Golden Response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Ground Truth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LLM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Model cascading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MMIT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 One Right answer (NORA)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Noise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One-shot prompting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Pre-trained model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Prompt engineering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Role prompting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Temperature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Zero-shot prompting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14E32A-8EE0-97F5-DB3B-45B7402569D9}"/>
              </a:ext>
            </a:extLst>
          </p:cNvPr>
          <p:cNvSpPr txBox="1">
            <a:spLocks/>
          </p:cNvSpPr>
          <p:nvPr/>
        </p:nvSpPr>
        <p:spPr bwMode="auto">
          <a:xfrm>
            <a:off x="0" y="36871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Foundational Generative AI concepts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233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A440-4FDA-23AA-97AB-EF892951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69F5-2C1C-1597-83B2-84B5279FB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72344"/>
            <a:ext cx="10515600" cy="5276055"/>
          </a:xfrm>
        </p:spPr>
        <p:txBody>
          <a:bodyPr numCol="1"/>
          <a:lstStyle/>
          <a:p>
            <a:pPr>
              <a:lnSpc>
                <a:spcPct val="250000"/>
              </a:lnSpc>
            </a:pPr>
            <a:r>
              <a:rPr lang="en-US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Chat</a:t>
            </a:r>
            <a:r>
              <a:rPr lang="en-US" sz="1800" dirty="0"/>
              <a:t>:	A back-and-forth dialogue with an ML system, typically an LLM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Few-shot prompting </a:t>
            </a:r>
            <a:r>
              <a:rPr lang="en-IN" sz="1800" dirty="0"/>
              <a:t>: </a:t>
            </a:r>
            <a:r>
              <a:rPr lang="en-US" sz="1800" dirty="0"/>
              <a:t>Prompting with more than one example to guide the model's response</a:t>
            </a:r>
          </a:p>
          <a:p>
            <a:pPr>
              <a:lnSpc>
                <a:spcPct val="250000"/>
              </a:lnSpc>
            </a:pPr>
            <a:r>
              <a:rPr lang="en-US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Fine-tuning</a:t>
            </a:r>
            <a:r>
              <a:rPr lang="en-US" sz="1800" dirty="0"/>
              <a:t>: Task-specific retraining of a pre-trained model to improve performance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Golden Response</a:t>
            </a:r>
            <a:r>
              <a:rPr lang="en-IN" sz="1800" dirty="0"/>
              <a:t>: A reference answer known to be correct, used for evaluation 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LLM :	</a:t>
            </a:r>
            <a:r>
              <a:rPr lang="en-IN" sz="1800" dirty="0"/>
              <a:t>		Abbreviation for large language model                 </a:t>
            </a: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82F064-A3A5-1946-BFA0-D1732CBA6B15}"/>
              </a:ext>
            </a:extLst>
          </p:cNvPr>
          <p:cNvSpPr txBox="1">
            <a:spLocks/>
          </p:cNvSpPr>
          <p:nvPr/>
        </p:nvSpPr>
        <p:spPr bwMode="auto">
          <a:xfrm>
            <a:off x="29497" y="0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Foundational Generative AI concepts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969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248AA-6BB0-C14A-7141-904D5BAF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7E5E9-5E86-E499-83B8-21AF42C40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72344"/>
            <a:ext cx="10515600" cy="5276055"/>
          </a:xfrm>
        </p:spPr>
        <p:txBody>
          <a:bodyPr numCol="1"/>
          <a:lstStyle/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Model cascading : </a:t>
            </a:r>
            <a:r>
              <a:rPr lang="en-IN" sz="1800" dirty="0"/>
              <a:t>	Selecting the best model for a query to balance quality and resource use            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MMIT	:   </a:t>
            </a:r>
            <a:r>
              <a:rPr lang="en-IN" sz="1800" dirty="0"/>
              <a:t>                    	Abbreviation for multimodal instruction-tuned                                      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 One Right answer (NORA) : </a:t>
            </a:r>
            <a:r>
              <a:rPr lang="en-IN" sz="1600" dirty="0"/>
              <a:t>A prompt with multiple valid responses, making evaluation challenging               </a:t>
            </a:r>
            <a:endParaRPr lang="en-IN" sz="1400" dirty="0"/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Noise	:	</a:t>
            </a:r>
            <a:r>
              <a:rPr lang="en-IN" sz="1800" dirty="0"/>
              <a:t>	Irrelevant or random data that can affect model training or output            </a:t>
            </a:r>
            <a:endParaRPr lang="en-US" sz="1800" dirty="0"/>
          </a:p>
          <a:p>
            <a:pPr>
              <a:lnSpc>
                <a:spcPct val="250000"/>
              </a:lnSpc>
            </a:pPr>
            <a:endParaRPr lang="en-US" sz="1800" dirty="0"/>
          </a:p>
          <a:p>
            <a:pPr marL="457200" lvl="1" indent="0">
              <a:lnSpc>
                <a:spcPct val="250000"/>
              </a:lnSpc>
              <a:buNone/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BA2E0A-31B7-7734-3103-BB9AC75AA0A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Foundational Generative AI concepts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679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9DCF-83C3-EF24-CE1A-C5519D89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FF3A1-8DD5-F618-31BD-94F525DF6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72344"/>
            <a:ext cx="10515600" cy="5276055"/>
          </a:xfrm>
        </p:spPr>
        <p:txBody>
          <a:bodyPr numCol="1"/>
          <a:lstStyle/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One-shot prompting :     </a:t>
            </a:r>
            <a:r>
              <a:rPr lang="en-IN" sz="1800" dirty="0"/>
              <a:t>Prompting with a single example to demonstrate the desired response                 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Pre-trained model :         </a:t>
            </a:r>
            <a:r>
              <a:rPr lang="en-IN" sz="1800" dirty="0"/>
              <a:t>A model already trained on large data, ready for further tuning or use              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Prompt engineering </a:t>
            </a:r>
            <a:r>
              <a:rPr lang="en-IN" sz="1800" dirty="0"/>
              <a:t>:      Crafting prompts to extract desired responses from an LLM                            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Role prompting :              </a:t>
            </a:r>
            <a:r>
              <a:rPr lang="en-IN" sz="1800" dirty="0"/>
              <a:t>Including a target audience or persona in a prompt to guide model </a:t>
            </a:r>
            <a:r>
              <a:rPr lang="en-IN" sz="1800" dirty="0" err="1"/>
              <a:t>behavior</a:t>
            </a:r>
            <a:r>
              <a:rPr lang="en-IN" sz="1800" dirty="0"/>
              <a:t>          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Temperature :                  </a:t>
            </a:r>
            <a:r>
              <a:rPr lang="en-IN" sz="1800" dirty="0"/>
              <a:t>A parameter controlling the randomness of model output                              </a:t>
            </a:r>
          </a:p>
          <a:p>
            <a:pPr>
              <a:lnSpc>
                <a:spcPct val="250000"/>
              </a:lnSpc>
            </a:pPr>
            <a:r>
              <a:rPr lang="en-IN" sz="1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Zero-shot prompting :    </a:t>
            </a:r>
            <a:r>
              <a:rPr lang="en-IN" sz="1800" dirty="0"/>
              <a:t>Prompting with no examples, relying on the model’s generalization ability   </a:t>
            </a:r>
          </a:p>
          <a:p>
            <a:pPr marL="0" indent="0">
              <a:lnSpc>
                <a:spcPct val="250000"/>
              </a:lnSpc>
              <a:buNone/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8FC678-3FEA-8B93-5F10-4A717527FAA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Foundational Generative AI concepts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337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_AMO_UNIQUEIDENTIFIER" val="fe43e174-a4b9-4506-8cbc-8619ad224b80"/>
  <p:tag name="_AMO_REPORTCONTROLSVISIBLE" val="Empt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y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heme1" id="{1607FCF7-3E3A-475F-9053-C690BE246C1D}" vid="{56E20CC5-79CD-43A7-A8DB-79FB1A3235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MyTheme1</Template>
  <TotalTime>1023</TotalTime>
  <Words>491</Words>
  <Application>Microsoft Office PowerPoint</Application>
  <PresentationFormat>Widescreen</PresentationFormat>
  <Paragraphs>85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MyTheme1</vt:lpstr>
      <vt:lpstr>think-cell Slide</vt:lpstr>
      <vt:lpstr>Foundational Generative AI concepts</vt:lpstr>
      <vt:lpstr>Generative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Keywords &amp; Concepts </dc:title>
  <cp:lastModifiedBy>Learning Cloud</cp:lastModifiedBy>
  <cp:revision>152</cp:revision>
  <dcterms:created xsi:type="dcterms:W3CDTF">2015-08-26T06:09:50Z</dcterms:created>
  <dcterms:modified xsi:type="dcterms:W3CDTF">2025-07-04T03:52:06Z</dcterms:modified>
</cp:coreProperties>
</file>