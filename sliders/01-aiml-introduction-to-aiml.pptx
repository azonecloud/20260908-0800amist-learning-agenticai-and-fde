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721" r:id="rId2"/>
    <p:sldId id="289" r:id="rId3"/>
    <p:sldId id="290" r:id="rId4"/>
    <p:sldId id="700" r:id="rId5"/>
    <p:sldId id="702" r:id="rId6"/>
    <p:sldId id="698" r:id="rId7"/>
    <p:sldId id="4683" r:id="rId8"/>
    <p:sldId id="699" r:id="rId9"/>
    <p:sldId id="723" r:id="rId10"/>
    <p:sldId id="722" r:id="rId11"/>
    <p:sldId id="4684" r:id="rId12"/>
    <p:sldId id="4669" r:id="rId13"/>
    <p:sldId id="4676" r:id="rId14"/>
    <p:sldId id="605" r:id="rId15"/>
    <p:sldId id="4677" r:id="rId16"/>
    <p:sldId id="4685" r:id="rId17"/>
    <p:sldId id="711" r:id="rId18"/>
    <p:sldId id="4686" r:id="rId19"/>
    <p:sldId id="4678" r:id="rId20"/>
    <p:sldId id="715" r:id="rId21"/>
    <p:sldId id="4680" r:id="rId22"/>
    <p:sldId id="4681" r:id="rId23"/>
    <p:sldId id="4679" r:id="rId24"/>
    <p:sldId id="608" r:id="rId25"/>
    <p:sldId id="623" r:id="rId26"/>
    <p:sldId id="627" r:id="rId27"/>
    <p:sldId id="703" r:id="rId28"/>
    <p:sldId id="704" r:id="rId29"/>
    <p:sldId id="705" r:id="rId30"/>
    <p:sldId id="706" r:id="rId31"/>
    <p:sldId id="287" r:id="rId32"/>
  </p:sldIdLst>
  <p:sldSz cx="12192000" cy="6858000"/>
  <p:notesSz cx="6858000" cy="9144000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0D64C-D583-450A-AF5F-3B268B4DA6D5}" v="3" dt="2026-08-05T17:36:21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9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rning Cloud" userId="622d7d18e0d997fa" providerId="LiveId" clId="{279ECA98-E282-4531-856E-11C6C45E70BF}"/>
    <pc:docChg chg="delSld modSld">
      <pc:chgData name="Learning Cloud" userId="622d7d18e0d997fa" providerId="LiveId" clId="{279ECA98-E282-4531-856E-11C6C45E70BF}" dt="2026-08-05T17:36:21.964" v="10" actId="1076"/>
      <pc:docMkLst>
        <pc:docMk/>
      </pc:docMkLst>
      <pc:sldChg chg="modSp">
        <pc:chgData name="Learning Cloud" userId="622d7d18e0d997fa" providerId="LiveId" clId="{279ECA98-E282-4531-856E-11C6C45E70BF}" dt="2026-08-05T17:36:21.964" v="10" actId="1076"/>
        <pc:sldMkLst>
          <pc:docMk/>
          <pc:sldMk cId="2625568306" sldId="4679"/>
        </pc:sldMkLst>
        <pc:spChg chg="mod">
          <ac:chgData name="Learning Cloud" userId="622d7d18e0d997fa" providerId="LiveId" clId="{279ECA98-E282-4531-856E-11C6C45E70BF}" dt="2026-08-05T17:36:21.964" v="10" actId="1076"/>
          <ac:spMkLst>
            <pc:docMk/>
            <pc:sldMk cId="2625568306" sldId="4679"/>
            <ac:spMk id="4" creationId="{39399355-D14D-F607-021C-0AB07573D4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FD6A3-605E-A7B7-A7A5-F1A50D5AD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99AAD-0BD9-AB27-9772-9CF5F575A6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3815F8B-09D4-4825-8C46-01FDD4851F66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36DB11A-A88D-E355-099D-76F6DB87D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2074B04-D47E-D0B7-17AB-5422E724E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D3146-56E2-E1B9-D823-BBA47DDD69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66C90-22CA-7615-F7C5-79EC108D5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70F5397-57B6-4410-96DF-E7EA3D7F6E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14C02C-11C7-4FB3-AE88-745A659E68F2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886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0F5397-57B6-4410-96DF-E7EA3D7F6EE9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1943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4ED9C075-654A-D1D7-4569-1A7005793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28A2B82E-7078-F6CE-0E24-D4516AF76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E71A5B06-4CB4-115A-15F8-AF2377F43E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2E6B6E4-B672-4650-BEFC-BC291474B57D}" type="slidenum">
              <a:rPr lang="en-US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1CAD104F-9E14-7008-BBB9-BA8E23A593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53068140-F9E2-F28C-A79C-7E9EA9E173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3803D042-DED7-7582-5722-D9E7E9760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D8BBC2B-4643-4C22-A91F-5B326E2712CA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1C00-B75A-87C6-B493-F9418DF2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4FA00-5C4F-41C1-AB88-53CBB8732F1E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030E8-F6B2-7127-A994-1188EBF3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ABAE-9E3A-AE11-D17A-42C84A66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7967A-F8FC-4666-B74A-490A5A2D0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61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32B6-1155-4E55-BB3F-52EF6ED6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37374-D0F2-4049-973D-FCF64A7CBE46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30C9-7B21-ED73-45C4-29D20FE3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AF5C7-9E5E-79DA-9293-52A18C9B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AB568-C785-4011-8A4B-23FD09102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02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49786-6AE1-5974-220D-8E343607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68193-96CF-4AD8-9BC7-501CD6B77D9B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A20C-93BF-F706-BAA0-0B06E61B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561EC-DC65-1C68-F613-F4C6B2D6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DE359-3571-48DE-B16F-AAFF66C5EF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39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C45C2D-6BD3-D568-5867-6F30B4DC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2146A-9C14-4129-988A-6C121EB389D4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A5481D-13C1-476D-90A0-28E89730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CD6D36-2686-0199-D48B-23D8DB55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EDD27-101C-4009-B679-3D2C303036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6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8F867C-5AFC-2301-F6A2-38FAEC9A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AC781-A768-45B7-9A8A-C1B5DC846C07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B413A03-DA29-E82A-3AAC-3C4AD000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A0C59B-7188-CF21-AAF4-FC19089C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4B44F-E938-428F-9AF0-94BC38D8D1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5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D6FCF5-ECBF-2938-0E2D-7A26B4B6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AA26F-DAC6-4BAA-B5D2-386B14E45101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260B25-AEC4-06FC-185B-819A1473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9A8D70-BFA0-E027-4EE2-350BD552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32040-7EDA-46BE-8481-CDC8819B1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34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1EDB53-8DFF-6A6D-2A8C-2DB6D22D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C5899-76FD-42C4-9626-0F42E921AAFA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2FDF8EF-D86B-E462-FF53-98CDBBB5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85168-C917-D51F-09B6-E2713695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E8615-5DDE-4C34-9B59-FCCF10D80C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4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93C4BD-FB44-957D-DC5F-56D21172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D1C2B-D114-4000-A74E-A2A96B5E4916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6BC59-9A8C-A7D8-B52D-6C4DF64C3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A7D4B3-12CF-59DD-567F-F4A981E0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C3177-44F6-424D-B5F8-10571EE49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24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D7D8E4-2078-9367-4212-DE05DFA0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3A4DF-8A5F-4FBD-A3A4-369BE9890133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0061A1-696F-E098-64AA-42B994F6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759B42-50FD-5249-E7BE-0B5D5F66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ADEDB-43EB-43D0-B92A-4A14BC53F0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16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8DE9E-94A0-64E7-6656-8B923A8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71816-847C-4B1D-9EB8-4A271622EDB8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26AD-7114-AF51-76D5-DD2B7E11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7D40-EE4B-BEC1-CCB7-D6089567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4FED9-7146-44EE-AF72-9EE645F09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71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1D92-8224-7EC7-328B-0BB44F47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E8F8D-D5C9-4262-B2F2-9B445E1D2AA9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4CA6-2EAE-6CAF-ADE7-F4EFF89A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9077-D385-8E7B-D8A1-4FDDBF1D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4FDDC-919B-41C5-A704-07E0E8E5BA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83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11FC80D-8817-8C20-A9C9-E1E5B8E58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39348A7-5DD4-82C4-D2DC-19D6C9509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C5EE9-2014-CC21-A8B6-856C05CA8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ADD56E-00D0-4432-9B31-7AB0F6766300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93D6-A5CE-7E19-48FB-EFE898677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2FD9-DC93-9945-959A-ADBCA873D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88B10E8-CEB3-4E70-80D8-7DC3032F4D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aphicFrame>
        <p:nvGraphicFramePr>
          <p:cNvPr id="1031" name="Object 6" hidden="1">
            <a:extLst>
              <a:ext uri="{FF2B5EF4-FFF2-40B4-BE49-F238E27FC236}">
                <a16:creationId xmlns:a16="http://schemas.microsoft.com/office/drawing/2014/main" id="{823FA8FE-34BE-CA7C-F6BB-D0E2ABA86B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1031" name="Object 6" hidden="1">
                        <a:extLst>
                          <a:ext uri="{FF2B5EF4-FFF2-40B4-BE49-F238E27FC236}">
                            <a16:creationId xmlns:a16="http://schemas.microsoft.com/office/drawing/2014/main" id="{823FA8FE-34BE-CA7C-F6BB-D0E2ABA86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Neural-Network-representations-learned-by-a-model-using-digit-classification-Figure_fig33_357418252" TargetMode="External"/><Relationship Id="rId2" Type="http://schemas.openxmlformats.org/officeDocument/2006/relationships/image" Target="../media/image5.ppm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16A6-5083-9565-9857-913E1B51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EBDC-A1F9-20E0-AE23-9D3606F41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46375"/>
            <a:ext cx="12192000" cy="793750"/>
          </a:xfrm>
        </p:spPr>
        <p:txBody>
          <a:bodyPr rtlCol="0">
            <a:normAutofit fontScale="90000"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altLang="en-US" sz="49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+mn-ea"/>
                <a:cs typeface="Arial Unicode MS" panose="020B0604020202020204" pitchFamily="34" charset="-128"/>
              </a:rPr>
              <a:t>Let's start with AI/ML</a:t>
            </a:r>
            <a:endParaRPr lang="en-US" altLang="en-US" sz="4000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677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5">
            <a:extLst>
              <a:ext uri="{FF2B5EF4-FFF2-40B4-BE49-F238E27FC236}">
                <a16:creationId xmlns:a16="http://schemas.microsoft.com/office/drawing/2014/main" id="{018F6970-D265-F51B-DF95-6FA4C480F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321004"/>
            <a:ext cx="457200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13800" dirty="0"/>
              <a:t>AI/ML</a:t>
            </a:r>
            <a:endParaRPr lang="en-IN" altLang="en-US" sz="8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86B1963-C7C9-8F3F-0CAF-7014BCE7FB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/>
              <a:t>Introduction to AI/ML</a:t>
            </a:r>
          </a:p>
        </p:txBody>
      </p:sp>
      <p:sp>
        <p:nvSpPr>
          <p:cNvPr id="4100" name="TextBox 5">
            <a:extLst>
              <a:ext uri="{FF2B5EF4-FFF2-40B4-BE49-F238E27FC236}">
                <a16:creationId xmlns:a16="http://schemas.microsoft.com/office/drawing/2014/main" id="{2E006647-C58F-E3EB-6693-5E9DEBB20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143000"/>
            <a:ext cx="29718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altLang="en-US" sz="8800" dirty="0"/>
              <a:t>AI/ML</a:t>
            </a:r>
            <a:endParaRPr lang="en-IN" alt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FC71-E4BB-B1E6-A355-343B1179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9E5E821-681A-DF98-93B6-A69DC264F0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AI?</a:t>
            </a:r>
          </a:p>
        </p:txBody>
      </p:sp>
    </p:spTree>
    <p:extLst>
      <p:ext uri="{BB962C8B-B14F-4D97-AF65-F5344CB8AC3E}">
        <p14:creationId xmlns:p14="http://schemas.microsoft.com/office/powerpoint/2010/main" val="345770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3CFEE-C073-F86C-D4D3-B505CF70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1FFE-2EF5-E375-1DEF-04F05465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" y="76200"/>
            <a:ext cx="12192000" cy="743745"/>
          </a:xfrm>
        </p:spPr>
        <p:txBody>
          <a:bodyPr/>
          <a:lstStyle/>
          <a:p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AI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C6B1-EB4D-2C50-1B31-A6425657B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2667000"/>
            <a:ext cx="6066504" cy="1600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AI refers to systems or machines that mimic human intelligence to perform tasks and can iteratively improve themselves based on the information they collect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173EB-7E48-6E4D-B6F9-FC2B85A4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813" y="698090"/>
            <a:ext cx="5538019" cy="55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6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86B1963-C7C9-8F3F-0CAF-7014BCE7FB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to do you teach machines to take actions?</a:t>
            </a:r>
          </a:p>
        </p:txBody>
      </p:sp>
    </p:spTree>
    <p:extLst>
      <p:ext uri="{BB962C8B-B14F-4D97-AF65-F5344CB8AC3E}">
        <p14:creationId xmlns:p14="http://schemas.microsoft.com/office/powerpoint/2010/main" val="203641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97EB-390A-2A07-2F59-ECB5519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E613CEE6-255B-46B6-578F-B9D43D1E77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51694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5">
            <a:extLst>
              <a:ext uri="{FF2B5EF4-FFF2-40B4-BE49-F238E27FC236}">
                <a16:creationId xmlns:a16="http://schemas.microsoft.com/office/drawing/2014/main" id="{018F6970-D265-F51B-DF95-6FA4C480F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74" y="1851645"/>
            <a:ext cx="7048500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N" altLang="en-US" sz="19900" dirty="0"/>
              <a:t>0 </a:t>
            </a:r>
            <a:r>
              <a:rPr lang="en-IN" altLang="en-US" sz="16600" dirty="0"/>
              <a:t>&amp;</a:t>
            </a:r>
            <a:r>
              <a:rPr lang="en-IN" altLang="en-US" sz="19900" dirty="0"/>
              <a:t> 1</a:t>
            </a:r>
            <a:endParaRPr lang="en-IN" altLang="en-US" sz="9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95DC2B-BBF7-EB7B-9CE6-A282A7028CE1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12192000" cy="67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4000" dirty="0">
                <a:latin typeface="Calibri" panose="020F0502020204030204" pitchFamily="34" charset="0"/>
                <a:ea typeface="+mn-ea"/>
              </a:rPr>
              <a:t>What is Machine Learning ?</a:t>
            </a:r>
            <a:endParaRPr lang="en-US" altLang="en-US" sz="4000" dirty="0"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50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E6B27-71CC-D142-CEC6-7EF066F9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5">
            <a:extLst>
              <a:ext uri="{FF2B5EF4-FFF2-40B4-BE49-F238E27FC236}">
                <a16:creationId xmlns:a16="http://schemas.microsoft.com/office/drawing/2014/main" id="{A8821BF4-3BFC-6F8C-CCFB-94D79A039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74" y="1851645"/>
            <a:ext cx="7048500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N" altLang="en-US" sz="19900" dirty="0"/>
              <a:t>0 </a:t>
            </a:r>
            <a:r>
              <a:rPr lang="en-IN" altLang="en-US" sz="16600" dirty="0"/>
              <a:t>&amp;</a:t>
            </a:r>
            <a:r>
              <a:rPr lang="en-IN" altLang="en-US" sz="19900" dirty="0"/>
              <a:t> 1</a:t>
            </a:r>
            <a:endParaRPr lang="en-IN" altLang="en-US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E97F-573D-7B33-DD11-46171DE37B86}"/>
              </a:ext>
            </a:extLst>
          </p:cNvPr>
          <p:cNvSpPr txBox="1">
            <a:spLocks/>
          </p:cNvSpPr>
          <p:nvPr/>
        </p:nvSpPr>
        <p:spPr bwMode="auto">
          <a:xfrm>
            <a:off x="6417213" y="2101363"/>
            <a:ext cx="5334000" cy="2655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 dirty="0"/>
          </a:p>
          <a:p>
            <a:r>
              <a:rPr lang="en-IN" sz="2800" dirty="0"/>
              <a:t>ML is an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art</a:t>
            </a:r>
            <a:r>
              <a:rPr lang="en-IN" sz="2800" dirty="0"/>
              <a:t> or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science</a:t>
            </a:r>
            <a:r>
              <a:rPr lang="en-IN" sz="2800" dirty="0"/>
              <a:t> making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anything</a:t>
            </a:r>
            <a:r>
              <a:rPr lang="en-IN" sz="2800" dirty="0"/>
              <a:t> to turn into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</a:t>
            </a:r>
            <a:r>
              <a:rPr lang="en-IN" sz="2800" dirty="0"/>
              <a:t> </a:t>
            </a:r>
          </a:p>
          <a:p>
            <a:r>
              <a:rPr lang="en-IN" sz="2800" dirty="0"/>
              <a:t>[0s and 1s],and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finding</a:t>
            </a:r>
            <a:r>
              <a:rPr lang="en-IN" sz="2800" dirty="0"/>
              <a:t> the </a:t>
            </a:r>
            <a:r>
              <a:rPr lang="en-IN" sz="2800" u="sng" dirty="0"/>
              <a:t>pattern</a:t>
            </a:r>
            <a:r>
              <a:rPr lang="en-IN" sz="2800" dirty="0"/>
              <a:t> in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those</a:t>
            </a:r>
            <a:r>
              <a:rPr lang="en-IN" sz="2800" dirty="0"/>
              <a:t>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</a:t>
            </a:r>
          </a:p>
          <a:p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3034DD-513A-4CC0-B15A-06D1820C4AFB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12192000" cy="67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4000" dirty="0">
                <a:latin typeface="Calibri" panose="020F0502020204030204" pitchFamily="34" charset="0"/>
                <a:ea typeface="+mn-ea"/>
              </a:rPr>
              <a:t>What is Machine Learning ?</a:t>
            </a:r>
            <a:endParaRPr lang="en-US" altLang="en-US" sz="4000" dirty="0"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23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FF51-0F64-4A58-88BF-0E5C8056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25BED-E743-6604-22DC-FA17F001CD1D}"/>
              </a:ext>
            </a:extLst>
          </p:cNvPr>
          <p:cNvSpPr txBox="1">
            <a:spLocks/>
          </p:cNvSpPr>
          <p:nvPr/>
        </p:nvSpPr>
        <p:spPr bwMode="auto">
          <a:xfrm>
            <a:off x="304800" y="2101363"/>
            <a:ext cx="5334000" cy="2655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 dirty="0"/>
          </a:p>
          <a:p>
            <a:r>
              <a:rPr lang="en-IN" sz="2800" dirty="0"/>
              <a:t>ML is an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art</a:t>
            </a:r>
            <a:r>
              <a:rPr lang="en-IN" sz="2800" dirty="0"/>
              <a:t> or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science</a:t>
            </a:r>
            <a:r>
              <a:rPr lang="en-IN" sz="2800" dirty="0"/>
              <a:t> making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anything</a:t>
            </a:r>
            <a:r>
              <a:rPr lang="en-IN" sz="2800" dirty="0"/>
              <a:t> to turn into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</a:t>
            </a:r>
            <a:r>
              <a:rPr lang="en-IN" sz="2800" dirty="0"/>
              <a:t> </a:t>
            </a:r>
          </a:p>
          <a:p>
            <a:r>
              <a:rPr lang="en-IN" sz="2800" dirty="0"/>
              <a:t>[0s and 1s],and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finding</a:t>
            </a:r>
            <a:r>
              <a:rPr lang="en-IN" sz="2800" dirty="0"/>
              <a:t> the </a:t>
            </a:r>
            <a:r>
              <a:rPr lang="en-IN" sz="2800" u="sng" dirty="0"/>
              <a:t>pattern</a:t>
            </a:r>
            <a:r>
              <a:rPr lang="en-IN" sz="2800" dirty="0"/>
              <a:t> in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those</a:t>
            </a:r>
            <a:r>
              <a:rPr lang="en-IN" sz="2800" dirty="0"/>
              <a:t> </a:t>
            </a:r>
            <a:r>
              <a:rPr lang="en-IN" sz="28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</a:t>
            </a:r>
          </a:p>
          <a:p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2C9C2A-B59F-9E11-C3A3-4DCA370B9F24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12192000" cy="67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4000" dirty="0">
                <a:latin typeface="Calibri" panose="020F0502020204030204" pitchFamily="34" charset="0"/>
                <a:ea typeface="+mn-ea"/>
              </a:rPr>
              <a:t>What is Machine Learning ?</a:t>
            </a:r>
            <a:endParaRPr lang="en-US" altLang="en-US" sz="4000" dirty="0"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11845-A6E5-A568-D03C-046BB623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647700"/>
            <a:ext cx="5562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D1D5-EA0D-5A3F-C0B7-AF9F6346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FACBEEA8-89BA-D49B-C172-62175A7F0F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 teach a machine, what will you show it?</a:t>
            </a:r>
          </a:p>
        </p:txBody>
      </p:sp>
    </p:spTree>
    <p:extLst>
      <p:ext uri="{BB962C8B-B14F-4D97-AF65-F5344CB8AC3E}">
        <p14:creationId xmlns:p14="http://schemas.microsoft.com/office/powerpoint/2010/main" val="366114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>
            <a:spLocks noGrp="1"/>
          </p:cNvSpPr>
          <p:nvPr>
            <p:ph type="subTitle" idx="1"/>
          </p:nvPr>
        </p:nvSpPr>
        <p:spPr>
          <a:xfrm>
            <a:off x="0" y="2697161"/>
            <a:ext cx="12192000" cy="1463678"/>
          </a:xfrm>
          <a:ln>
            <a:noFill/>
          </a:ln>
          <a:effectLst/>
        </p:spPr>
        <p:txBody>
          <a:bodyPr>
            <a:noAutofit/>
          </a:bodyPr>
          <a:lstStyle/>
          <a:p>
            <a:r>
              <a:rPr lang="en-US" sz="11500" dirty="0">
                <a:cs typeface="Arial" pitchFamily="34" charset="0"/>
              </a:rPr>
              <a:t>Data</a:t>
            </a:r>
            <a:endParaRPr lang="en-US" sz="11500" dirty="0">
              <a:solidFill>
                <a:schemeClr val="tx2">
                  <a:lumMod val="50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8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3AFBFB-E332-FBEF-C438-662BAB1F7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02756"/>
            <a:ext cx="12192000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altLang="en-US" sz="8800" dirty="0"/>
              <a:t>Types of Data</a:t>
            </a:r>
            <a:endParaRPr lang="en-IN" altLang="en-US" sz="8800" dirty="0"/>
          </a:p>
        </p:txBody>
      </p:sp>
    </p:spTree>
    <p:extLst>
      <p:ext uri="{BB962C8B-B14F-4D97-AF65-F5344CB8AC3E}">
        <p14:creationId xmlns:p14="http://schemas.microsoft.com/office/powerpoint/2010/main" val="363166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96C676-FAF0-325A-2AD2-69A1991DAA76}"/>
              </a:ext>
            </a:extLst>
          </p:cNvPr>
          <p:cNvSpPr/>
          <p:nvPr/>
        </p:nvSpPr>
        <p:spPr>
          <a:xfrm>
            <a:off x="600861" y="882650"/>
            <a:ext cx="3209925" cy="852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2000" dirty="0"/>
              <a:t>STRUCTURED DATA</a:t>
            </a:r>
            <a:endParaRPr lang="en-IN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31CC4C-FF3D-4D90-A17F-09E446552B53}"/>
              </a:ext>
            </a:extLst>
          </p:cNvPr>
          <p:cNvSpPr/>
          <p:nvPr/>
        </p:nvSpPr>
        <p:spPr>
          <a:xfrm>
            <a:off x="8124960" y="882650"/>
            <a:ext cx="3209925" cy="8524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UNSTRUCTURED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38375-DF3B-68A1-249F-DD2A7690035D}"/>
              </a:ext>
            </a:extLst>
          </p:cNvPr>
          <p:cNvSpPr/>
          <p:nvPr/>
        </p:nvSpPr>
        <p:spPr>
          <a:xfrm>
            <a:off x="4362910" y="882650"/>
            <a:ext cx="3209925" cy="8524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SEMI STRUCTURE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96C676-FAF0-325A-2AD2-69A1991DAA76}"/>
              </a:ext>
            </a:extLst>
          </p:cNvPr>
          <p:cNvSpPr/>
          <p:nvPr/>
        </p:nvSpPr>
        <p:spPr>
          <a:xfrm>
            <a:off x="623438" y="408517"/>
            <a:ext cx="3209925" cy="852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2000" dirty="0"/>
              <a:t>STRUCTURED DATA</a:t>
            </a:r>
            <a:endParaRPr lang="en-IN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31CC4C-FF3D-4D90-A17F-09E446552B53}"/>
              </a:ext>
            </a:extLst>
          </p:cNvPr>
          <p:cNvSpPr/>
          <p:nvPr/>
        </p:nvSpPr>
        <p:spPr>
          <a:xfrm>
            <a:off x="8147537" y="408517"/>
            <a:ext cx="3209925" cy="8524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UNSTRUCTURED DATA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9E8D36E-B348-6641-09F9-634373169000}"/>
              </a:ext>
            </a:extLst>
          </p:cNvPr>
          <p:cNvSpPr txBox="1">
            <a:spLocks/>
          </p:cNvSpPr>
          <p:nvPr/>
        </p:nvSpPr>
        <p:spPr>
          <a:xfrm>
            <a:off x="8147536" y="1402058"/>
            <a:ext cx="3209926" cy="4716520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/>
              <a:t>Text Documents:</a:t>
            </a:r>
            <a:r>
              <a:rPr lang="en-IN" sz="1800" dirty="0"/>
              <a:t> Free-form text documents like articles, books, emails, and chat logs</a:t>
            </a:r>
          </a:p>
          <a:p>
            <a:r>
              <a:rPr lang="en-IN" sz="1800" b="1"/>
              <a:t>Images</a:t>
            </a:r>
            <a:r>
              <a:rPr lang="en-IN" sz="1800" b="1" dirty="0"/>
              <a:t>:</a:t>
            </a:r>
            <a:r>
              <a:rPr lang="en-IN" sz="1800" dirty="0"/>
              <a:t> Digital images in formats like JPEG, PNG, or GIF Image files contain pixel data and are unstructured in terms of text-based content</a:t>
            </a:r>
          </a:p>
          <a:p>
            <a:r>
              <a:rPr lang="en-IN" sz="1800" b="1" dirty="0"/>
              <a:t>Audio and Video</a:t>
            </a:r>
          </a:p>
          <a:p>
            <a:r>
              <a:rPr lang="en-IN" sz="1800" b="1" dirty="0"/>
              <a:t>Social Media Feeds:</a:t>
            </a:r>
            <a:r>
              <a:rPr lang="en-IN" sz="1800" dirty="0"/>
              <a:t> Posts, comments, and tweets on platforms like Twitter and Facebook These data types contain unstructured text, emojis, and multimedia content</a:t>
            </a:r>
          </a:p>
          <a:p>
            <a:r>
              <a:rPr lang="en-IN" sz="1800" b="1" dirty="0"/>
              <a:t>Sensor Data</a:t>
            </a:r>
            <a:endParaRPr lang="en-IN" sz="1800" dirty="0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E9AB7E2-495F-3015-1470-9F0277ACD42D}"/>
              </a:ext>
            </a:extLst>
          </p:cNvPr>
          <p:cNvSpPr txBox="1">
            <a:spLocks/>
          </p:cNvSpPr>
          <p:nvPr/>
        </p:nvSpPr>
        <p:spPr>
          <a:xfrm>
            <a:off x="623438" y="1402057"/>
            <a:ext cx="3209925" cy="4197231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dirty="0"/>
              <a:t>Dates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Phone Numbers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Customer Names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Transactions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Data in Excel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Data in Relational Database</a:t>
            </a:r>
            <a:endParaRPr lang="en-IN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38375-DF3B-68A1-249F-DD2A7690035D}"/>
              </a:ext>
            </a:extLst>
          </p:cNvPr>
          <p:cNvSpPr/>
          <p:nvPr/>
        </p:nvSpPr>
        <p:spPr>
          <a:xfrm>
            <a:off x="4385487" y="408517"/>
            <a:ext cx="3209925" cy="8524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/>
              <a:t>SEMI STRUCTURE DATA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73EBF26-5257-8ED9-8E2E-41B11EBCA29C}"/>
              </a:ext>
            </a:extLst>
          </p:cNvPr>
          <p:cNvSpPr txBox="1">
            <a:spLocks/>
          </p:cNvSpPr>
          <p:nvPr/>
        </p:nvSpPr>
        <p:spPr>
          <a:xfrm>
            <a:off x="4385486" y="1402057"/>
            <a:ext cx="3209926" cy="2210387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JSON (JavaScript Object Notation)</a:t>
            </a:r>
          </a:p>
          <a:p>
            <a:r>
              <a:rPr lang="en-IN" sz="1800" dirty="0"/>
              <a:t>XML (Extensible Markup Language)</a:t>
            </a:r>
          </a:p>
          <a:p>
            <a:r>
              <a:rPr lang="en-IN" sz="1800" dirty="0"/>
              <a:t>NoSQL Databases</a:t>
            </a:r>
          </a:p>
        </p:txBody>
      </p:sp>
    </p:spTree>
    <p:extLst>
      <p:ext uri="{BB962C8B-B14F-4D97-AF65-F5344CB8AC3E}">
        <p14:creationId xmlns:p14="http://schemas.microsoft.com/office/powerpoint/2010/main" val="197587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F4768-3B11-2DBA-D948-934BC1D1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163E8949-7CEC-AF0B-CC14-9867292130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343400"/>
            <a:ext cx="12192000" cy="836613"/>
          </a:xfrm>
        </p:spPr>
        <p:txBody>
          <a:bodyPr/>
          <a:lstStyle/>
          <a:p>
            <a:pPr algn="l"/>
            <a:r>
              <a:rPr lang="en-US" altLang="en-US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Complex data needs deeper thinking—enters “</a:t>
            </a:r>
            <a:r>
              <a:rPr lang="en-US" altLang="en-US" sz="3600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Deep Learning</a:t>
            </a:r>
            <a:r>
              <a:rPr lang="en-US" altLang="en-US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242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EBD7A-48FF-578F-C4AA-7B676D78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A40B0-6B3B-8C27-FF12-45400922F3D4}"/>
              </a:ext>
            </a:extLst>
          </p:cNvPr>
          <p:cNvSpPr txBox="1">
            <a:spLocks/>
          </p:cNvSpPr>
          <p:nvPr/>
        </p:nvSpPr>
        <p:spPr bwMode="auto">
          <a:xfrm>
            <a:off x="-7374" y="2057400"/>
            <a:ext cx="5334000" cy="2655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Deep Learning (DL) is a subfield of Machine Learning that uses artificial neural networks with multiple layers (hence "deep") to analyze data</a:t>
            </a:r>
            <a:endParaRPr lang="en-IN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1C2710-C881-EB19-CDA5-17D7607C3FD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12192000" cy="67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4000" dirty="0">
                <a:latin typeface="Calibri" panose="020F0502020204030204" pitchFamily="34" charset="0"/>
                <a:ea typeface="+mn-ea"/>
              </a:rPr>
              <a:t>What is Deep Learning ?</a:t>
            </a:r>
            <a:endParaRPr lang="en-US" altLang="en-US" sz="4000" dirty="0"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20909B-7865-50F8-5C26-915C081C6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51436"/>
            <a:ext cx="610098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2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970E-B2DC-78A8-3B4F-F3F81AC6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2DBB83-B7C6-1609-DEE8-918FB057E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6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472B-A67B-05E9-CA6E-FF454A4C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1150FB4-C30F-F5A3-3550-CAF82EFEC8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3810000"/>
            <a:ext cx="12192000" cy="14462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After training, are models capable of generating content?</a:t>
            </a:r>
          </a:p>
        </p:txBody>
      </p:sp>
    </p:spTree>
    <p:extLst>
      <p:ext uri="{BB962C8B-B14F-4D97-AF65-F5344CB8AC3E}">
        <p14:creationId xmlns:p14="http://schemas.microsoft.com/office/powerpoint/2010/main" val="287772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A56D-6C25-5870-A55B-184A725C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150DA6A-4419-9DD4-D230-08DD1BE256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895600"/>
            <a:ext cx="12192000" cy="836613"/>
          </a:xfrm>
        </p:spPr>
        <p:txBody>
          <a:bodyPr/>
          <a:lstStyle/>
          <a:p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43260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2058-78C8-D4AA-A0B6-DFF6D35E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B73E-6931-342D-B03E-BD9F47EF3685}"/>
              </a:ext>
            </a:extLst>
          </p:cNvPr>
          <p:cNvSpPr txBox="1">
            <a:spLocks/>
          </p:cNvSpPr>
          <p:nvPr/>
        </p:nvSpPr>
        <p:spPr bwMode="auto">
          <a:xfrm>
            <a:off x="304800" y="1518136"/>
            <a:ext cx="5181600" cy="351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Generative AI is a type of artificial intelligence that can create new content—like text, images, music, or code—by learning patterns from existing data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F3D236-969F-F1D0-B758-866DEF014D02}"/>
              </a:ext>
            </a:extLst>
          </p:cNvPr>
          <p:cNvSpPr txBox="1">
            <a:spLocks/>
          </p:cNvSpPr>
          <p:nvPr/>
        </p:nvSpPr>
        <p:spPr bwMode="auto">
          <a:xfrm>
            <a:off x="0" y="-2458"/>
            <a:ext cx="12192000" cy="67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lnSpcReduction="10000"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4000" dirty="0">
                <a:latin typeface="Calibri" panose="020F0502020204030204" pitchFamily="34" charset="0"/>
                <a:ea typeface="+mn-ea"/>
              </a:rPr>
              <a:t>What is Generative AI?</a:t>
            </a:r>
            <a:endParaRPr lang="en-US" altLang="en-US" sz="4000" dirty="0">
              <a:latin typeface="Calibri" panose="020F0502020204030204" pitchFamily="34" charset="0"/>
              <a:ea typeface="+mn-ea"/>
              <a:cs typeface="Arial Unicode MS" panose="020B0604020202020204" pitchFamily="34" charset="-128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67E023B-3C84-2BF5-011E-B579BD3D4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6334" y="1518136"/>
            <a:ext cx="6245666" cy="351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593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04C63-C029-40BF-0750-2613A83B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130A15D8-87D9-BA4A-9A82-56864FF687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sz="4800" dirty="0">
                <a:solidFill>
                  <a:schemeClr val="accent4"/>
                </a:solidFill>
              </a:rPr>
              <a:t>🧩 So, how are they all connected?</a:t>
            </a:r>
            <a:endParaRPr lang="en-US" altLang="en-US" sz="4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86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868E2-9ED3-1D01-C868-B5B17A840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97" y="1524000"/>
            <a:ext cx="4875039" cy="41989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Generative AI is the </a:t>
            </a:r>
            <a:r>
              <a:rPr lang="en-US" sz="2000" b="1" dirty="0"/>
              <a:t>car</a:t>
            </a:r>
            <a:r>
              <a:rPr lang="en-US" sz="2000" dirty="0"/>
              <a:t> that drives creativity using an engine.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Deep Learning is the </a:t>
            </a:r>
            <a:r>
              <a:rPr lang="en-US" sz="2000" b="1" dirty="0"/>
              <a:t>engine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 deep learning = no generative AI.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They’re part of the same machine.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Machine Learning is the whole vehicle system—it’s the broader field that teaches machines to learn from data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399355-D14D-F607-021C-0AB07573D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9" y="35560"/>
            <a:ext cx="121920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sz="4800" dirty="0">
                <a:solidFill>
                  <a:schemeClr val="accent4"/>
                </a:solidFill>
              </a:rPr>
              <a:t>So, how are they all connected?</a:t>
            </a:r>
            <a:endParaRPr lang="en-US" altLang="en-US" sz="4800" dirty="0">
              <a:solidFill>
                <a:schemeClr val="accent4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840776-147C-E5CD-A39F-3D3CC34C7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2736" y="1524000"/>
            <a:ext cx="6464013" cy="419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556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797C302-EF1C-0462-F97E-5382B897DD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do we teach machines to learn from data?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BD6E-6ECC-7986-91CD-3ACF1202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351338"/>
          </a:xfrm>
        </p:spPr>
        <p:txBody>
          <a:bodyPr/>
          <a:lstStyle/>
          <a:p>
            <a:pPr lvl="1"/>
            <a:r>
              <a:rPr lang="en-US" sz="2800" dirty="0"/>
              <a:t>Supervised learning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Unsupervised learning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Reinforcement learning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Generative AI</a:t>
            </a:r>
          </a:p>
          <a:p>
            <a:endParaRPr lang="en-IN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4E32A-8EE0-97F5-DB3B-45B7402569D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695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 of Machine Learning(ML) Systems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123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BD6E-6ECC-7986-91CD-3ACF1202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4343400" cy="4114800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Supervised learning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Training with labeled data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Improving prediction accuracy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Learning from correct answers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Discovering patterns in data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4E32A-8EE0-97F5-DB3B-45B7402569D9}"/>
              </a:ext>
            </a:extLst>
          </p:cNvPr>
          <p:cNvSpPr txBox="1">
            <a:spLocks/>
          </p:cNvSpPr>
          <p:nvPr/>
        </p:nvSpPr>
        <p:spPr bwMode="auto">
          <a:xfrm>
            <a:off x="0" y="32657"/>
            <a:ext cx="1219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4000" dirty="0"/>
              <a:t>In Supervised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A7065-7A4F-DDE3-36B0-71E85CA4F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737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3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37B6-BA77-C6AA-AAC5-B56A831A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EFA6-D4F2-8F57-98A5-FF103E708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4343400" cy="4114800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Un-Supervised learning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No labeled data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No correct answers provided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Model finds patterns on its own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Learns to group similar data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Uses clustering to identify structure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87D4E4-07C9-9D92-90B1-DF2FA5673FD3}"/>
              </a:ext>
            </a:extLst>
          </p:cNvPr>
          <p:cNvSpPr txBox="1">
            <a:spLocks/>
          </p:cNvSpPr>
          <p:nvPr/>
        </p:nvSpPr>
        <p:spPr bwMode="auto">
          <a:xfrm>
            <a:off x="0" y="32657"/>
            <a:ext cx="1219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4000" dirty="0"/>
              <a:t>Un Supervised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CC5DA-29C8-B7C0-0B70-4F8CBED4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-32657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8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3E05-394B-0071-F470-E5CB52A4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D066-A4F9-7C1A-9186-0A9B5AF3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4343400" cy="4114800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Un-Supervised learning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No labeled data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No correct answers provided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Model finds patterns on its own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Learns to group similar data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Uses clustering to identify structure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C0AE99-3B65-FD19-2F97-5AD2535044CA}"/>
              </a:ext>
            </a:extLst>
          </p:cNvPr>
          <p:cNvSpPr txBox="1">
            <a:spLocks/>
          </p:cNvSpPr>
          <p:nvPr/>
        </p:nvSpPr>
        <p:spPr bwMode="auto">
          <a:xfrm>
            <a:off x="0" y="32657"/>
            <a:ext cx="1219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4000" dirty="0"/>
              <a:t>Un Supervised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D3547-6F15-9E96-AED6-47EC31022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03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2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6360-6F3F-89AC-D9B7-CA2828E6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358B-A00C-3DB1-1E0C-974907955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47800"/>
            <a:ext cx="4343400" cy="4114800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Reinforcement </a:t>
            </a:r>
            <a:r>
              <a:rPr lang="en-US" sz="2000" dirty="0"/>
              <a:t> Learning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Learns through rewards and penalties 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Interacts with an environment 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Improves by trial and error 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Develops a strategy (policy) 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Aims to maximize total rewards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C2A15F-4878-3D6E-5EC6-587A0EE5A2EC}"/>
              </a:ext>
            </a:extLst>
          </p:cNvPr>
          <p:cNvSpPr txBox="1">
            <a:spLocks/>
          </p:cNvSpPr>
          <p:nvPr/>
        </p:nvSpPr>
        <p:spPr bwMode="auto">
          <a:xfrm>
            <a:off x="0" y="32657"/>
            <a:ext cx="1219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4000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18726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041D-A21C-CD3E-CB4E-1AA32706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F326A-FEA1-A62F-C9C1-6CBD9A9BE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8600" y="1219200"/>
            <a:ext cx="4343400" cy="4114800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Generative AI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Creates content from user input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Generates text, images, audio, video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Supports multi-modal inputs and outputs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Combines input types (e.g., image + text)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Common types: text-to-text, text-to-image, text-to-video, </a:t>
            </a:r>
            <a:r>
              <a:rPr lang="en-US" sz="2000" dirty="0" err="1"/>
              <a:t>etc</a:t>
            </a: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502664-3A1B-0A33-5F9C-48D8B6C2E4AE}"/>
              </a:ext>
            </a:extLst>
          </p:cNvPr>
          <p:cNvSpPr txBox="1">
            <a:spLocks/>
          </p:cNvSpPr>
          <p:nvPr/>
        </p:nvSpPr>
        <p:spPr bwMode="auto">
          <a:xfrm>
            <a:off x="0" y="32657"/>
            <a:ext cx="1219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4000" dirty="0"/>
              <a:t>									Generative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9BAAC8-1427-A968-64E4-294A1840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8" y="-32658"/>
            <a:ext cx="6858000" cy="68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3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60FB6-F123-8D97-5562-FB11D1E1821E}"/>
              </a:ext>
            </a:extLst>
          </p:cNvPr>
          <p:cNvSpPr txBox="1">
            <a:spLocks/>
          </p:cNvSpPr>
          <p:nvPr/>
        </p:nvSpPr>
        <p:spPr>
          <a:xfrm>
            <a:off x="685800" y="3352800"/>
            <a:ext cx="10515600" cy="56356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+mn-lt"/>
              </a:rPr>
              <a:t>Thank You</a:t>
            </a:r>
            <a:endParaRPr lang="en-US" sz="4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_AMO_UNIQUEIDENTIFIER" val="fe43e174-a4b9-4506-8cbc-8619ad224b80"/>
  <p:tag name="_AMO_REPORTCONTROLSVISIBLE" val="Empt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y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heme1" id="{1607FCF7-3E3A-475F-9053-C690BE246C1D}" vid="{56E20CC5-79CD-43A7-A8DB-79FB1A3235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1173</TotalTime>
  <Words>610</Words>
  <Application>Microsoft Office PowerPoint</Application>
  <PresentationFormat>Widescreen</PresentationFormat>
  <Paragraphs>110</Paragraphs>
  <Slides>31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MyTheme1</vt:lpstr>
      <vt:lpstr>think-cell Slide</vt:lpstr>
      <vt:lpstr>Let's start with AI/ML</vt:lpstr>
      <vt:lpstr>PowerPoint Presentation</vt:lpstr>
      <vt:lpstr>Introduction to AI/ML</vt:lpstr>
      <vt:lpstr>What is AI?</vt:lpstr>
      <vt:lpstr>What is AI ?</vt:lpstr>
      <vt:lpstr>How to do you teach machines to take actions?</vt:lpstr>
      <vt:lpstr>Machine Learning</vt:lpstr>
      <vt:lpstr>PowerPoint Presentation</vt:lpstr>
      <vt:lpstr>PowerPoint Presentation</vt:lpstr>
      <vt:lpstr>PowerPoint Presentation</vt:lpstr>
      <vt:lpstr>To teach a machine, what will you show it?</vt:lpstr>
      <vt:lpstr>PowerPoint Presentation</vt:lpstr>
      <vt:lpstr>PowerPoint Presentation</vt:lpstr>
      <vt:lpstr>PowerPoint Presentation</vt:lpstr>
      <vt:lpstr>PowerPoint Presentation</vt:lpstr>
      <vt:lpstr>Complex data needs deeper thinking—enters “Deep Learning”</vt:lpstr>
      <vt:lpstr>PowerPoint Presentation</vt:lpstr>
      <vt:lpstr>PowerPoint Presentation</vt:lpstr>
      <vt:lpstr>After training, are models capable of generating content?</vt:lpstr>
      <vt:lpstr>Generative AI</vt:lpstr>
      <vt:lpstr>PowerPoint Presentation</vt:lpstr>
      <vt:lpstr>🧩 So, how are they all connected?</vt:lpstr>
      <vt:lpstr>PowerPoint Presentation</vt:lpstr>
      <vt:lpstr>How do we teach machines to learn from data?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Learning Cloud</cp:lastModifiedBy>
  <cp:revision>200</cp:revision>
  <dcterms:created xsi:type="dcterms:W3CDTF">2015-08-26T06:09:50Z</dcterms:created>
  <dcterms:modified xsi:type="dcterms:W3CDTF">2026-08-05T17:36:23Z</dcterms:modified>
</cp:coreProperties>
</file>